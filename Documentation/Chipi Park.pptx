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7" d="100"/>
          <a:sy n="77" d="100"/>
        </p:scale>
        <p:origin x="835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4242851"/>
            <a:ext cx="8968084" cy="275942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1716" y="4243845"/>
            <a:ext cx="3077108" cy="27694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0" y="2590078"/>
            <a:ext cx="8968085" cy="1660332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9111715" y="2590078"/>
            <a:ext cx="3077109" cy="166033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0322" y="2733709"/>
            <a:ext cx="8144134" cy="1373070"/>
          </a:xfrm>
        </p:spPr>
        <p:txBody>
          <a:bodyPr anchor="b">
            <a:noAutofit/>
          </a:bodyPr>
          <a:lstStyle>
            <a:lvl1pPr algn="r">
              <a:defRPr sz="54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0322" y="4394039"/>
            <a:ext cx="8144134" cy="1117687"/>
          </a:xfrm>
        </p:spPr>
        <p:txBody>
          <a:bodyPr>
            <a:normAutofit/>
          </a:bodyPr>
          <a:lstStyle>
            <a:lvl1pPr marL="0" indent="0" algn="r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98C68D-F4F0-49CD-81C4-DA9887D4319C}" type="datetimeFigureOut">
              <a:rPr lang="es-ES" smtClean="0"/>
              <a:t>22/01/2026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255346" y="2750337"/>
            <a:ext cx="1171888" cy="1356442"/>
          </a:xfrm>
        </p:spPr>
        <p:txBody>
          <a:bodyPr/>
          <a:lstStyle/>
          <a:p>
            <a:fld id="{F891426E-028B-4570-A8EF-2AF90E540BCD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7231295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6" name="Picture 15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" name="Rectangle 17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98C68D-F4F0-49CD-81C4-DA9887D4319C}" type="datetimeFigureOut">
              <a:rPr lang="es-ES" smtClean="0"/>
              <a:t>22/01/2026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91426E-028B-4570-A8EF-2AF90E540BCD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5921130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4086907"/>
            <a:ext cx="10437812" cy="321164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4" y="4087901"/>
            <a:ext cx="1602997" cy="14427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-2" y="2726267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10585825" y="2726267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2869895"/>
            <a:ext cx="9613860" cy="1090788"/>
          </a:xfrm>
        </p:spPr>
        <p:txBody>
          <a:bodyPr anchor="ctr">
            <a:normAutofit/>
          </a:bodyPr>
          <a:lstStyle>
            <a:lvl1pPr algn="r">
              <a:defRPr sz="36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0322" y="4232171"/>
            <a:ext cx="9613860" cy="1704017"/>
          </a:xfrm>
        </p:spPr>
        <p:txBody>
          <a:bodyPr>
            <a:normAutofit/>
          </a:bodyPr>
          <a:lstStyle>
            <a:lvl1pPr marL="0" indent="0" algn="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98C68D-F4F0-49CD-81C4-DA9887D4319C}" type="datetimeFigureOut">
              <a:rPr lang="es-ES" smtClean="0"/>
              <a:t>22/01/2026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729455" y="2869895"/>
            <a:ext cx="1154151" cy="1090789"/>
          </a:xfrm>
        </p:spPr>
        <p:txBody>
          <a:bodyPr/>
          <a:lstStyle/>
          <a:p>
            <a:fld id="{F891426E-028B-4570-A8EF-2AF90E540BCD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2436719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0320" y="2336873"/>
            <a:ext cx="4698358" cy="3599316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594123" y="2336873"/>
            <a:ext cx="4700058" cy="3599316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98C68D-F4F0-49CD-81C4-DA9887D4319C}" type="datetimeFigureOut">
              <a:rPr lang="es-ES" smtClean="0"/>
              <a:t>22/01/2026</a:t>
            </a:fld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91426E-028B-4570-A8EF-2AF90E540BCD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0107730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1" name="Picture 10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" name="Rectangle 12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19" y="753229"/>
            <a:ext cx="9613863" cy="1080937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06350" y="2336873"/>
            <a:ext cx="4472327" cy="69313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0322" y="3030008"/>
            <a:ext cx="4698355" cy="2906179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820154" y="2336873"/>
            <a:ext cx="4474028" cy="69207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594123" y="3030008"/>
            <a:ext cx="4700059" cy="2906179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98C68D-F4F0-49CD-81C4-DA9887D4319C}" type="datetimeFigureOut">
              <a:rPr lang="es-ES" smtClean="0"/>
              <a:t>22/01/2026</a:t>
            </a:fld>
            <a:endParaRPr lang="es-E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91426E-028B-4570-A8EF-2AF90E540BCD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8989716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7" name="Picture 6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98C68D-F4F0-49CD-81C4-DA9887D4319C}" type="datetimeFigureOut">
              <a:rPr lang="es-ES" smtClean="0"/>
              <a:t>22/01/2026</a:t>
            </a:fld>
            <a:endParaRPr lang="es-E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91426E-028B-4570-A8EF-2AF90E540BCD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6591086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HD-ShadowShor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98C68D-F4F0-49CD-81C4-DA9887D4319C}" type="datetimeFigureOut">
              <a:rPr lang="es-ES" smtClean="0"/>
              <a:t>22/01/2026</a:t>
            </a:fld>
            <a:endParaRPr lang="es-E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91426E-028B-4570-A8EF-2AF90E540BCD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0203086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1" y="753227"/>
            <a:ext cx="9613859" cy="108094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85846" y="2336873"/>
            <a:ext cx="5608336" cy="3599313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2336872"/>
            <a:ext cx="3790078" cy="3599317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98C68D-F4F0-49CD-81C4-DA9887D4319C}" type="datetimeFigureOut">
              <a:rPr lang="es-ES" smtClean="0"/>
              <a:t>22/01/2026</a:t>
            </a:fld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91426E-028B-4570-A8EF-2AF90E540BCD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9641395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3" y="753228"/>
            <a:ext cx="9613857" cy="1080938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868333" y="2336874"/>
            <a:ext cx="5425849" cy="3599312"/>
          </a:xfrm>
          <a:noFill/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3" y="2336873"/>
            <a:ext cx="3876256" cy="3599315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98C68D-F4F0-49CD-81C4-DA9887D4319C}" type="datetimeFigureOut">
              <a:rPr lang="es-ES" smtClean="0"/>
              <a:t>22/01/2026</a:t>
            </a:fld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91426E-028B-4570-A8EF-2AF90E540BCD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2675109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n panorámic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4711616"/>
            <a:ext cx="9613859" cy="453051"/>
          </a:xfrm>
        </p:spPr>
        <p:txBody>
          <a:bodyPr anchor="b">
            <a:normAutofit/>
          </a:bodyPr>
          <a:lstStyle>
            <a:lvl1pPr>
              <a:defRPr sz="24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0322" y="609597"/>
            <a:ext cx="9613859" cy="3589575"/>
          </a:xfrm>
          <a:noFill/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19" y="5169583"/>
            <a:ext cx="9613862" cy="622971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98C68D-F4F0-49CD-81C4-DA9887D4319C}" type="datetimeFigureOut">
              <a:rPr lang="es-ES" smtClean="0"/>
              <a:t>22/01/2026</a:t>
            </a:fld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11309"/>
            <a:ext cx="1154151" cy="1090789"/>
          </a:xfrm>
        </p:spPr>
        <p:txBody>
          <a:bodyPr/>
          <a:lstStyle/>
          <a:p>
            <a:fld id="{F891426E-028B-4570-A8EF-2AF90E540BCD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0100650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y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609597"/>
            <a:ext cx="9613858" cy="3592750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4711615"/>
            <a:ext cx="9613859" cy="1090789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98C68D-F4F0-49CD-81C4-DA9887D4319C}" type="datetimeFigureOut">
              <a:rPr lang="es-ES" smtClean="0"/>
              <a:t>22/01/2026</a:t>
            </a:fld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11615"/>
            <a:ext cx="1154151" cy="1090789"/>
          </a:xfrm>
        </p:spPr>
        <p:txBody>
          <a:bodyPr/>
          <a:lstStyle/>
          <a:p>
            <a:fld id="{F891426E-028B-4570-A8EF-2AF90E540BCD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95128407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13" name="Picture 12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Rectangle 14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7856" y="609598"/>
            <a:ext cx="8718877" cy="3036061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402288" y="3653379"/>
            <a:ext cx="815657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4711615"/>
            <a:ext cx="9613859" cy="1090789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98C68D-F4F0-49CD-81C4-DA9887D4319C}" type="datetimeFigureOut">
              <a:rPr lang="es-ES" smtClean="0"/>
              <a:t>22/01/2026</a:t>
            </a:fld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09925"/>
            <a:ext cx="1154151" cy="1090789"/>
          </a:xfrm>
        </p:spPr>
        <p:txBody>
          <a:bodyPr/>
          <a:lstStyle/>
          <a:p>
            <a:fld id="{F891426E-028B-4570-A8EF-2AF90E540BCD}" type="slidenum">
              <a:rPr lang="es-ES" smtClean="0"/>
              <a:t>‹Nº›</a:t>
            </a:fld>
            <a:endParaRPr lang="es-ES"/>
          </a:p>
        </p:txBody>
      </p:sp>
      <p:sp>
        <p:nvSpPr>
          <p:cNvPr id="16" name="TextBox 15"/>
          <p:cNvSpPr txBox="1"/>
          <p:nvPr/>
        </p:nvSpPr>
        <p:spPr>
          <a:xfrm>
            <a:off x="583572" y="74811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72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62809" y="30335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72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16059070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10" name="Picture 9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2" name="Rectangle 11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19" y="4711615"/>
            <a:ext cx="9613862" cy="5885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0" y="5300149"/>
            <a:ext cx="9613862" cy="502255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98C68D-F4F0-49CD-81C4-DA9887D4319C}" type="datetimeFigureOut">
              <a:rPr lang="es-ES" smtClean="0"/>
              <a:t>22/01/2026</a:t>
            </a:fld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09925"/>
            <a:ext cx="1154151" cy="1090789"/>
          </a:xfrm>
        </p:spPr>
        <p:txBody>
          <a:bodyPr/>
          <a:lstStyle/>
          <a:p>
            <a:fld id="{F891426E-028B-4570-A8EF-2AF90E540BCD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78281584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4" name="Picture 13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" name="Rectangle 16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669222" y="753228"/>
            <a:ext cx="9624960" cy="1080938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60946" y="2336873"/>
            <a:ext cx="3070034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0322" y="3022673"/>
            <a:ext cx="3049702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956025" y="2336873"/>
            <a:ext cx="306324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945470" y="3022673"/>
            <a:ext cx="3063240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224156" y="2336873"/>
            <a:ext cx="30700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224156" y="3022673"/>
            <a:ext cx="3070025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98C68D-F4F0-49CD-81C4-DA9887D4319C}" type="datetimeFigureOut">
              <a:rPr lang="es-ES" smtClean="0"/>
              <a:t>22/01/2026</a:t>
            </a:fld>
            <a:endParaRPr lang="es-E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91426E-028B-4570-A8EF-2AF90E540BCD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90971154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de imagen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6" name="Picture 15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" name="Rectangle 17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680322" y="753228"/>
            <a:ext cx="9613860" cy="1080938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0318" y="4297503"/>
            <a:ext cx="304970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0318" y="2336873"/>
            <a:ext cx="3049705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0318" y="4873765"/>
            <a:ext cx="3049705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945471" y="4297503"/>
            <a:ext cx="306324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945470" y="2336873"/>
            <a:ext cx="3063240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944117" y="4873764"/>
            <a:ext cx="3067297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230678" y="4297503"/>
            <a:ext cx="306350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230677" y="2336873"/>
            <a:ext cx="3063505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230553" y="4873762"/>
            <a:ext cx="3067563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98C68D-F4F0-49CD-81C4-DA9887D4319C}" type="datetimeFigureOut">
              <a:rPr lang="es-ES" smtClean="0"/>
              <a:t>22/01/2026</a:t>
            </a:fld>
            <a:endParaRPr lang="es-E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91426E-028B-4570-A8EF-2AF90E540BCD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01525547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r"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98C68D-F4F0-49CD-81C4-DA9887D4319C}" type="datetimeFigureOut">
              <a:rPr lang="es-ES" smtClean="0"/>
              <a:t>22/01/2026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91426E-028B-4570-A8EF-2AF90E540BCD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38125817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 bwMode="ltGray">
          <a:xfrm rot="5400000">
            <a:off x="8116207" y="1869395"/>
            <a:ext cx="5106988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 rot="5400000">
            <a:off x="9868202" y="5372403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129231" y="609597"/>
            <a:ext cx="1073802" cy="4353760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0322" y="609597"/>
            <a:ext cx="8870004" cy="5326589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807126" y="5936187"/>
            <a:ext cx="2743200" cy="365125"/>
          </a:xfrm>
        </p:spPr>
        <p:txBody>
          <a:bodyPr/>
          <a:lstStyle/>
          <a:p>
            <a:fld id="{2D98C68D-F4F0-49CD-81C4-DA9887D4319C}" type="datetimeFigureOut">
              <a:rPr lang="es-ES" smtClean="0"/>
              <a:t>22/01/2026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0321" y="5936188"/>
            <a:ext cx="6126805" cy="365125"/>
          </a:xfrm>
        </p:spPr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097550" y="5398633"/>
            <a:ext cx="1154151" cy="1090789"/>
          </a:xfrm>
        </p:spPr>
        <p:txBody>
          <a:bodyPr anchor="t"/>
          <a:lstStyle>
            <a:lvl1pPr algn="ctr">
              <a:defRPr/>
            </a:lvl1pPr>
          </a:lstStyle>
          <a:p>
            <a:fld id="{F891426E-028B-4570-A8EF-2AF90E540BCD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0484765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ashOverlay-FullResolve.png"/>
          <p:cNvPicPr>
            <a:picLocks noChangeAspect="1"/>
          </p:cNvPicPr>
          <p:nvPr/>
        </p:nvPicPr>
        <p:blipFill>
          <a:blip r:embed="rId19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0321" y="753228"/>
            <a:ext cx="9613861" cy="108093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0321" y="2336873"/>
            <a:ext cx="9613861" cy="35993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0981" y="5936187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D98C68D-F4F0-49CD-81C4-DA9887D4319C}" type="datetimeFigureOut">
              <a:rPr lang="es-ES" smtClean="0"/>
              <a:t>22/01/2026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0321" y="5936188"/>
            <a:ext cx="687066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29455" y="753227"/>
            <a:ext cx="1154151" cy="109078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891426E-028B-4570-A8EF-2AF90E540BCD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0542568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  <p:sldLayoutId id="2147483685" r:id="rId13"/>
    <p:sldLayoutId id="2147483686" r:id="rId14"/>
    <p:sldLayoutId id="2147483687" r:id="rId15"/>
    <p:sldLayoutId id="2147483688" r:id="rId16"/>
    <p:sldLayoutId id="2147483689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DavidLapi" TargetMode="External"/><Relationship Id="rId2" Type="http://schemas.openxmlformats.org/officeDocument/2006/relationships/hyperlink" Target="https://www.linkedin.com/in/david-vaamonde/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github.com/DavidLapi/Chipi-Park.git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9356EBA1-F5C9-5AF2-6D86-74B5FB68A97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2765" y="0"/>
            <a:ext cx="12294704" cy="6858000"/>
          </a:xfrm>
          <a:prstGeom prst="rect">
            <a:avLst/>
          </a:prstGeom>
        </p:spPr>
      </p:pic>
      <p:sp>
        <p:nvSpPr>
          <p:cNvPr id="3" name="Subtítulo 2">
            <a:extLst>
              <a:ext uri="{FF2B5EF4-FFF2-40B4-BE49-F238E27FC236}">
                <a16:creationId xmlns:a16="http://schemas.microsoft.com/office/drawing/2014/main" id="{F179BED9-ED61-D807-8801-071A1041D01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244617" y="5099717"/>
            <a:ext cx="8144134" cy="1117687"/>
          </a:xfrm>
        </p:spPr>
        <p:txBody>
          <a:bodyPr/>
          <a:lstStyle/>
          <a:p>
            <a:r>
              <a:rPr lang="es-ES" dirty="0">
                <a:solidFill>
                  <a:schemeClr val="bg1"/>
                </a:solidFill>
              </a:rPr>
              <a:t>Proyecto personal Factoría F5 </a:t>
            </a:r>
            <a:r>
              <a:rPr lang="es-ES" dirty="0" err="1">
                <a:solidFill>
                  <a:schemeClr val="bg1"/>
                </a:solidFill>
              </a:rPr>
              <a:t>Superkode</a:t>
            </a:r>
            <a:endParaRPr lang="es-ES" dirty="0">
              <a:solidFill>
                <a:schemeClr val="bg1"/>
              </a:solidFill>
            </a:endParaRPr>
          </a:p>
          <a:p>
            <a:r>
              <a:rPr lang="es-ES" dirty="0">
                <a:solidFill>
                  <a:schemeClr val="bg1"/>
                </a:solidFill>
              </a:rPr>
              <a:t>Autor: David Vaamonde Bueno</a:t>
            </a:r>
          </a:p>
        </p:txBody>
      </p:sp>
      <p:sp>
        <p:nvSpPr>
          <p:cNvPr id="7" name="Título 6">
            <a:extLst>
              <a:ext uri="{FF2B5EF4-FFF2-40B4-BE49-F238E27FC236}">
                <a16:creationId xmlns:a16="http://schemas.microsoft.com/office/drawing/2014/main" id="{5AC57331-67B3-397A-67F9-B82CC0511FB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74035" y="5319670"/>
            <a:ext cx="1052055" cy="677779"/>
          </a:xfrm>
        </p:spPr>
        <p:txBody>
          <a:bodyPr/>
          <a:lstStyle/>
          <a:p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0952784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8CDFAE0-82D4-D40C-6EF9-AC74A548A5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Índice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71EC0C8-3625-EE37-CD2F-426F4C5E0F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14842" y="2489273"/>
            <a:ext cx="5061260" cy="3599316"/>
          </a:xfrm>
        </p:spPr>
        <p:txBody>
          <a:bodyPr>
            <a:normAutofit/>
          </a:bodyPr>
          <a:lstStyle/>
          <a:p>
            <a:pPr marL="457200" indent="-457200">
              <a:buFont typeface="+mj-lt"/>
              <a:buAutoNum type="arabicPeriod" startAt="9"/>
            </a:pPr>
            <a:r>
              <a:rPr lang="es-ES" dirty="0">
                <a:solidFill>
                  <a:schemeClr val="bg1"/>
                </a:solidFill>
              </a:rPr>
              <a:t>Desafíos y soluciones</a:t>
            </a:r>
          </a:p>
          <a:p>
            <a:pPr marL="457200" indent="-457200">
              <a:buFont typeface="+mj-lt"/>
              <a:buAutoNum type="arabicPeriod" startAt="9"/>
            </a:pPr>
            <a:r>
              <a:rPr lang="es-ES" dirty="0">
                <a:solidFill>
                  <a:schemeClr val="bg1"/>
                </a:solidFill>
              </a:rPr>
              <a:t>Demostración</a:t>
            </a:r>
          </a:p>
          <a:p>
            <a:pPr marL="457200" indent="-457200">
              <a:buFont typeface="+mj-lt"/>
              <a:buAutoNum type="arabicPeriod" startAt="9"/>
            </a:pPr>
            <a:r>
              <a:rPr lang="es-ES" dirty="0">
                <a:solidFill>
                  <a:schemeClr val="bg1"/>
                </a:solidFill>
              </a:rPr>
              <a:t>Futuras mejoras</a:t>
            </a:r>
          </a:p>
          <a:p>
            <a:pPr marL="457200" indent="-457200">
              <a:buFont typeface="+mj-lt"/>
              <a:buAutoNum type="arabicPeriod" startAt="9"/>
            </a:pPr>
            <a:r>
              <a:rPr lang="es-ES" dirty="0">
                <a:solidFill>
                  <a:schemeClr val="bg1"/>
                </a:solidFill>
              </a:rPr>
              <a:t>Conclusiones y futuro</a:t>
            </a:r>
          </a:p>
        </p:txBody>
      </p:sp>
      <p:sp>
        <p:nvSpPr>
          <p:cNvPr id="4" name="Marcador de contenido 2">
            <a:extLst>
              <a:ext uri="{FF2B5EF4-FFF2-40B4-BE49-F238E27FC236}">
                <a16:creationId xmlns:a16="http://schemas.microsoft.com/office/drawing/2014/main" id="{582EAAAE-6405-B9B9-E56C-FE4F09B2F123}"/>
              </a:ext>
            </a:extLst>
          </p:cNvPr>
          <p:cNvSpPr txBox="1">
            <a:spLocks/>
          </p:cNvSpPr>
          <p:nvPr/>
        </p:nvSpPr>
        <p:spPr>
          <a:xfrm>
            <a:off x="832722" y="2489273"/>
            <a:ext cx="5061260" cy="3599316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>
              <a:buFont typeface="+mj-lt"/>
              <a:buAutoNum type="arabicPeriod"/>
            </a:pPr>
            <a:r>
              <a:rPr lang="es-ES" dirty="0">
                <a:solidFill>
                  <a:schemeClr val="bg1"/>
                </a:solidFill>
              </a:rPr>
              <a:t>Introducción</a:t>
            </a:r>
          </a:p>
          <a:p>
            <a:pPr marL="457200" indent="-457200">
              <a:buFont typeface="+mj-lt"/>
              <a:buAutoNum type="arabicPeriod"/>
            </a:pPr>
            <a:r>
              <a:rPr lang="es-ES" dirty="0">
                <a:solidFill>
                  <a:schemeClr val="bg1"/>
                </a:solidFill>
              </a:rPr>
              <a:t>Objetivos y alcance</a:t>
            </a:r>
          </a:p>
          <a:p>
            <a:pPr marL="457200" indent="-457200">
              <a:buFont typeface="+mj-lt"/>
              <a:buAutoNum type="arabicPeriod"/>
            </a:pPr>
            <a:r>
              <a:rPr lang="es-ES" dirty="0">
                <a:solidFill>
                  <a:schemeClr val="bg1"/>
                </a:solidFill>
              </a:rPr>
              <a:t>Tecnologías usadas</a:t>
            </a:r>
          </a:p>
          <a:p>
            <a:pPr marL="457200" indent="-457200">
              <a:buFont typeface="+mj-lt"/>
              <a:buAutoNum type="arabicPeriod"/>
            </a:pPr>
            <a:r>
              <a:rPr lang="es-ES" dirty="0">
                <a:solidFill>
                  <a:schemeClr val="bg1"/>
                </a:solidFill>
              </a:rPr>
              <a:t>Arquitectura del Sistema</a:t>
            </a:r>
          </a:p>
          <a:p>
            <a:pPr marL="457200" indent="-457200">
              <a:buFont typeface="+mj-lt"/>
              <a:buAutoNum type="arabicPeriod"/>
            </a:pPr>
            <a:r>
              <a:rPr lang="es-ES" dirty="0">
                <a:solidFill>
                  <a:schemeClr val="bg1"/>
                </a:solidFill>
              </a:rPr>
              <a:t>Base de datos</a:t>
            </a:r>
          </a:p>
          <a:p>
            <a:pPr marL="457200" indent="-457200">
              <a:buFont typeface="+mj-lt"/>
              <a:buAutoNum type="arabicPeriod"/>
            </a:pPr>
            <a:r>
              <a:rPr lang="es-ES" dirty="0">
                <a:solidFill>
                  <a:schemeClr val="bg1"/>
                </a:solidFill>
              </a:rPr>
              <a:t>API REST</a:t>
            </a:r>
          </a:p>
          <a:p>
            <a:pPr marL="457200" indent="-457200">
              <a:buFont typeface="+mj-lt"/>
              <a:buAutoNum type="arabicPeriod"/>
            </a:pPr>
            <a:r>
              <a:rPr lang="es-ES" dirty="0">
                <a:solidFill>
                  <a:schemeClr val="bg1"/>
                </a:solidFill>
              </a:rPr>
              <a:t>Autenticación y Seguridad</a:t>
            </a:r>
          </a:p>
          <a:p>
            <a:pPr marL="457200" indent="-457200">
              <a:buFont typeface="+mj-lt"/>
              <a:buAutoNum type="arabicPeriod"/>
            </a:pPr>
            <a:r>
              <a:rPr lang="es-ES" dirty="0">
                <a:solidFill>
                  <a:schemeClr val="bg1"/>
                </a:solidFill>
              </a:rPr>
              <a:t>Funcionalidades Principales</a:t>
            </a:r>
          </a:p>
        </p:txBody>
      </p:sp>
    </p:spTree>
    <p:extLst>
      <p:ext uri="{BB962C8B-B14F-4D97-AF65-F5344CB8AC3E}">
        <p14:creationId xmlns:p14="http://schemas.microsoft.com/office/powerpoint/2010/main" val="6300945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8AB18E5-D772-8744-3700-6D0E54D5EA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Introducción: ¿Qué es Chipi Park?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F97760C-F04E-5945-ACE4-6F477FB684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0321" y="2365513"/>
            <a:ext cx="9613861" cy="3570676"/>
          </a:xfrm>
        </p:spPr>
        <p:txBody>
          <a:bodyPr>
            <a:normAutofit/>
          </a:bodyPr>
          <a:lstStyle/>
          <a:p>
            <a:r>
              <a:rPr lang="es-ES" b="1" dirty="0">
                <a:solidFill>
                  <a:schemeClr val="bg1"/>
                </a:solidFill>
              </a:rPr>
              <a:t>Descripción: </a:t>
            </a:r>
            <a:r>
              <a:rPr lang="es-ES" dirty="0">
                <a:solidFill>
                  <a:schemeClr val="bg1"/>
                </a:solidFill>
              </a:rPr>
              <a:t>Plataforma e-</a:t>
            </a:r>
            <a:r>
              <a:rPr lang="es-ES" dirty="0" err="1">
                <a:solidFill>
                  <a:schemeClr val="bg1"/>
                </a:solidFill>
              </a:rPr>
              <a:t>commerce</a:t>
            </a:r>
            <a:r>
              <a:rPr lang="es-ES" dirty="0">
                <a:solidFill>
                  <a:schemeClr val="bg1"/>
                </a:solidFill>
              </a:rPr>
              <a:t> completa para la venta de productos y para el entretenimiento.</a:t>
            </a:r>
          </a:p>
          <a:p>
            <a:r>
              <a:rPr lang="es-ES" b="1" dirty="0">
                <a:solidFill>
                  <a:schemeClr val="bg1"/>
                </a:solidFill>
              </a:rPr>
              <a:t>Productos:</a:t>
            </a:r>
          </a:p>
          <a:p>
            <a:pPr marL="650875" indent="-342900"/>
            <a:r>
              <a:rPr lang="es-ES" b="1" dirty="0">
                <a:solidFill>
                  <a:schemeClr val="bg1"/>
                </a:solidFill>
              </a:rPr>
              <a:t>Juegos de mesa </a:t>
            </a:r>
            <a:r>
              <a:rPr lang="es-ES" dirty="0">
                <a:solidFill>
                  <a:schemeClr val="bg1"/>
                </a:solidFill>
              </a:rPr>
              <a:t>(estrategia, familiar…)</a:t>
            </a:r>
          </a:p>
          <a:p>
            <a:pPr marL="650875" indent="-342900"/>
            <a:r>
              <a:rPr lang="es-ES" b="1" dirty="0">
                <a:solidFill>
                  <a:schemeClr val="bg1"/>
                </a:solidFill>
              </a:rPr>
              <a:t>Juegos de ordenador </a:t>
            </a:r>
            <a:r>
              <a:rPr lang="es-ES" dirty="0">
                <a:solidFill>
                  <a:schemeClr val="bg1"/>
                </a:solidFill>
              </a:rPr>
              <a:t>(Tres en raya, matemáticas rápidas…)</a:t>
            </a:r>
          </a:p>
          <a:p>
            <a:pPr marL="650875" indent="-342900"/>
            <a:r>
              <a:rPr lang="es-ES" b="1" dirty="0">
                <a:solidFill>
                  <a:schemeClr val="bg1"/>
                </a:solidFill>
              </a:rPr>
              <a:t>Peluches</a:t>
            </a:r>
            <a:r>
              <a:rPr lang="es-ES" dirty="0">
                <a:solidFill>
                  <a:schemeClr val="bg1"/>
                </a:solidFill>
              </a:rPr>
              <a:t> (</a:t>
            </a:r>
            <a:r>
              <a:rPr lang="es-ES" dirty="0" err="1">
                <a:solidFill>
                  <a:schemeClr val="bg1"/>
                </a:solidFill>
              </a:rPr>
              <a:t>Fugglers</a:t>
            </a:r>
            <a:r>
              <a:rPr lang="es-ES" dirty="0">
                <a:solidFill>
                  <a:schemeClr val="bg1"/>
                </a:solidFill>
              </a:rPr>
              <a:t>, tamaños variados…)</a:t>
            </a:r>
            <a:endParaRPr lang="es-ES" b="1" dirty="0">
              <a:solidFill>
                <a:schemeClr val="bg1"/>
              </a:solidFill>
            </a:endParaRPr>
          </a:p>
          <a:p>
            <a:pPr marL="0" indent="0">
              <a:buNone/>
            </a:pPr>
            <a:br>
              <a:rPr lang="es-ES" dirty="0"/>
            </a:b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2304497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96D2AE5-0D60-6DB6-E8B8-B71A98E4B6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Introducción: ¿Qué es Chipi Park?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17414CD-B7B2-3321-4EED-05A2FE0E88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s-ES" b="1" dirty="0">
                <a:solidFill>
                  <a:schemeClr val="bg1"/>
                </a:solidFill>
              </a:rPr>
              <a:t>Motivación del proyecto:</a:t>
            </a:r>
          </a:p>
          <a:p>
            <a:pPr marL="531813"/>
            <a:r>
              <a:rPr lang="es-ES" dirty="0">
                <a:solidFill>
                  <a:schemeClr val="bg1"/>
                </a:solidFill>
              </a:rPr>
              <a:t>Aplicar conocimientos </a:t>
            </a:r>
            <a:r>
              <a:rPr lang="es-ES" dirty="0" err="1">
                <a:solidFill>
                  <a:schemeClr val="bg1"/>
                </a:solidFill>
              </a:rPr>
              <a:t>FullStack</a:t>
            </a:r>
            <a:r>
              <a:rPr lang="es-ES" dirty="0">
                <a:solidFill>
                  <a:schemeClr val="bg1"/>
                </a:solidFill>
              </a:rPr>
              <a:t> en un caso real.</a:t>
            </a:r>
          </a:p>
          <a:p>
            <a:pPr marL="531813"/>
            <a:r>
              <a:rPr lang="es-ES" dirty="0">
                <a:solidFill>
                  <a:schemeClr val="bg1"/>
                </a:solidFill>
              </a:rPr>
              <a:t>Integrar </a:t>
            </a:r>
            <a:r>
              <a:rPr lang="es-ES" dirty="0" err="1">
                <a:solidFill>
                  <a:schemeClr val="bg1"/>
                </a:solidFill>
              </a:rPr>
              <a:t>Frontend</a:t>
            </a:r>
            <a:r>
              <a:rPr lang="es-ES" dirty="0">
                <a:solidFill>
                  <a:schemeClr val="bg1"/>
                </a:solidFill>
              </a:rPr>
              <a:t> moderno con </a:t>
            </a:r>
            <a:r>
              <a:rPr lang="es-ES" dirty="0" err="1">
                <a:solidFill>
                  <a:schemeClr val="bg1"/>
                </a:solidFill>
              </a:rPr>
              <a:t>Backend</a:t>
            </a:r>
            <a:r>
              <a:rPr lang="es-ES" dirty="0">
                <a:solidFill>
                  <a:schemeClr val="bg1"/>
                </a:solidFill>
              </a:rPr>
              <a:t> robusto.</a:t>
            </a:r>
          </a:p>
          <a:p>
            <a:pPr marL="531813"/>
            <a:r>
              <a:rPr lang="es-ES" dirty="0">
                <a:solidFill>
                  <a:schemeClr val="bg1"/>
                </a:solidFill>
              </a:rPr>
              <a:t>Implementar funcionalidades complejas de e-</a:t>
            </a:r>
            <a:r>
              <a:rPr lang="es-ES" dirty="0" err="1">
                <a:solidFill>
                  <a:schemeClr val="bg1"/>
                </a:solidFill>
              </a:rPr>
              <a:t>commerce</a:t>
            </a:r>
            <a:r>
              <a:rPr lang="es-ES" dirty="0">
                <a:solidFill>
                  <a:schemeClr val="bg1"/>
                </a:solidFill>
              </a:rPr>
              <a:t>.</a:t>
            </a:r>
          </a:p>
          <a:p>
            <a:r>
              <a:rPr lang="es-ES" b="1" dirty="0">
                <a:solidFill>
                  <a:schemeClr val="bg1"/>
                </a:solidFill>
              </a:rPr>
              <a:t>Problema que resuelve:</a:t>
            </a:r>
          </a:p>
          <a:p>
            <a:pPr marL="531813"/>
            <a:r>
              <a:rPr lang="es-ES" dirty="0">
                <a:solidFill>
                  <a:schemeClr val="bg1"/>
                </a:solidFill>
              </a:rPr>
              <a:t>Compra online centralizada de productos de entretenimiento.</a:t>
            </a:r>
          </a:p>
          <a:p>
            <a:pPr marL="531813"/>
            <a:r>
              <a:rPr lang="es-ES" dirty="0">
                <a:solidFill>
                  <a:schemeClr val="bg1"/>
                </a:solidFill>
              </a:rPr>
              <a:t>Sistema de puntos y recompensas.</a:t>
            </a:r>
          </a:p>
          <a:p>
            <a:pPr marL="531813"/>
            <a:r>
              <a:rPr lang="es-ES" dirty="0">
                <a:solidFill>
                  <a:schemeClr val="bg1"/>
                </a:solidFill>
              </a:rPr>
              <a:t>Gestión eficiente de inventario.</a:t>
            </a:r>
          </a:p>
        </p:txBody>
      </p:sp>
    </p:spTree>
    <p:extLst>
      <p:ext uri="{BB962C8B-B14F-4D97-AF65-F5344CB8AC3E}">
        <p14:creationId xmlns:p14="http://schemas.microsoft.com/office/powerpoint/2010/main" val="1879880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1E0B04C-B8F2-B09F-7479-76B90F5B46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Objetivos del proyecto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452437F-46CF-4F03-C15E-1CBC096944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b="1" dirty="0">
                <a:solidFill>
                  <a:schemeClr val="bg1"/>
                </a:solidFill>
              </a:rPr>
              <a:t>Objetivos Principales:</a:t>
            </a:r>
            <a:r>
              <a:rPr lang="es-ES" dirty="0">
                <a:solidFill>
                  <a:schemeClr val="bg1"/>
                </a:solidFill>
              </a:rPr>
              <a:t> </a:t>
            </a:r>
          </a:p>
          <a:p>
            <a:pPr marL="0" indent="0">
              <a:spcAft>
                <a:spcPts val="1200"/>
              </a:spcAft>
              <a:buNone/>
            </a:pPr>
            <a:r>
              <a:rPr lang="es-ES" dirty="0">
                <a:solidFill>
                  <a:schemeClr val="bg1"/>
                </a:solidFill>
              </a:rPr>
              <a:t>	✅ Desarrollar una aplicación web </a:t>
            </a:r>
            <a:r>
              <a:rPr lang="es-ES" dirty="0" err="1">
                <a:solidFill>
                  <a:schemeClr val="bg1"/>
                </a:solidFill>
              </a:rPr>
              <a:t>FullStack</a:t>
            </a:r>
            <a:r>
              <a:rPr lang="es-ES" dirty="0">
                <a:solidFill>
                  <a:schemeClr val="bg1"/>
                </a:solidFill>
              </a:rPr>
              <a:t> completa </a:t>
            </a:r>
          </a:p>
          <a:p>
            <a:pPr marL="0" indent="0">
              <a:spcAft>
                <a:spcPts val="1200"/>
              </a:spcAft>
              <a:buNone/>
            </a:pPr>
            <a:r>
              <a:rPr lang="es-ES" dirty="0">
                <a:solidFill>
                  <a:schemeClr val="bg1"/>
                </a:solidFill>
              </a:rPr>
              <a:t>	✅ Implementar sistema de autenticación seguro (JWT) </a:t>
            </a:r>
          </a:p>
          <a:p>
            <a:pPr marL="0" indent="0">
              <a:spcAft>
                <a:spcPts val="1200"/>
              </a:spcAft>
              <a:buNone/>
            </a:pPr>
            <a:r>
              <a:rPr lang="es-ES" dirty="0">
                <a:solidFill>
                  <a:schemeClr val="bg1"/>
                </a:solidFill>
              </a:rPr>
              <a:t>	✅ Crear API REST escalable con Django </a:t>
            </a:r>
          </a:p>
          <a:p>
            <a:pPr marL="0" indent="0">
              <a:spcAft>
                <a:spcPts val="1200"/>
              </a:spcAft>
              <a:buNone/>
            </a:pPr>
            <a:r>
              <a:rPr lang="es-ES" dirty="0">
                <a:solidFill>
                  <a:schemeClr val="bg1"/>
                </a:solidFill>
              </a:rPr>
              <a:t>	✅ Diseñar interfaz moderna y responsive con </a:t>
            </a:r>
            <a:r>
              <a:rPr lang="es-ES" dirty="0" err="1">
                <a:solidFill>
                  <a:schemeClr val="bg1"/>
                </a:solidFill>
              </a:rPr>
              <a:t>React</a:t>
            </a:r>
            <a:r>
              <a:rPr lang="es-ES" dirty="0">
                <a:solidFill>
                  <a:schemeClr val="bg1"/>
                </a:solidFill>
              </a:rPr>
              <a:t> 	</a:t>
            </a:r>
          </a:p>
          <a:p>
            <a:pPr marL="0" indent="0">
              <a:spcAft>
                <a:spcPts val="1200"/>
              </a:spcAft>
              <a:buNone/>
            </a:pPr>
            <a:r>
              <a:rPr lang="es-ES" dirty="0">
                <a:solidFill>
                  <a:schemeClr val="bg1"/>
                </a:solidFill>
              </a:rPr>
              <a:t>	✅ Normalizar base de datos hasta 3FN</a:t>
            </a:r>
          </a:p>
        </p:txBody>
      </p:sp>
    </p:spTree>
    <p:extLst>
      <p:ext uri="{BB962C8B-B14F-4D97-AF65-F5344CB8AC3E}">
        <p14:creationId xmlns:p14="http://schemas.microsoft.com/office/powerpoint/2010/main" val="33758101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E6D6022-1727-0F1C-1C71-FFD055C737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Objetivos del proyecto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19D1570-B181-3D12-A159-9CC9182E79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0321" y="2336873"/>
            <a:ext cx="10505130" cy="3599316"/>
          </a:xfrm>
        </p:spPr>
        <p:txBody>
          <a:bodyPr>
            <a:normAutofit lnSpcReduction="10000"/>
          </a:bodyPr>
          <a:lstStyle/>
          <a:p>
            <a:r>
              <a:rPr lang="es-ES" b="1" dirty="0">
                <a:solidFill>
                  <a:schemeClr val="bg1"/>
                </a:solidFill>
              </a:rPr>
              <a:t>Alcance Funcional:</a:t>
            </a:r>
          </a:p>
          <a:p>
            <a:pPr marL="531813"/>
            <a:r>
              <a:rPr lang="es-ES" dirty="0">
                <a:solidFill>
                  <a:schemeClr val="bg1"/>
                </a:solidFill>
              </a:rPr>
              <a:t>Usuario: Registro, </a:t>
            </a:r>
            <a:r>
              <a:rPr lang="es-ES" dirty="0" err="1">
                <a:solidFill>
                  <a:schemeClr val="bg1"/>
                </a:solidFill>
              </a:rPr>
              <a:t>login</a:t>
            </a:r>
            <a:r>
              <a:rPr lang="es-ES" dirty="0">
                <a:solidFill>
                  <a:schemeClr val="bg1"/>
                </a:solidFill>
              </a:rPr>
              <a:t> (</a:t>
            </a:r>
            <a:r>
              <a:rPr lang="es-ES" dirty="0" err="1">
                <a:solidFill>
                  <a:schemeClr val="bg1"/>
                </a:solidFill>
              </a:rPr>
              <a:t>wishlist</a:t>
            </a:r>
            <a:r>
              <a:rPr lang="es-ES" dirty="0">
                <a:solidFill>
                  <a:schemeClr val="bg1"/>
                </a:solidFill>
              </a:rPr>
              <a:t>, compras, reseñas)</a:t>
            </a:r>
          </a:p>
          <a:p>
            <a:pPr marL="531813"/>
            <a:r>
              <a:rPr lang="es-ES" dirty="0" err="1">
                <a:solidFill>
                  <a:schemeClr val="bg1"/>
                </a:solidFill>
              </a:rPr>
              <a:t>Admin</a:t>
            </a:r>
            <a:r>
              <a:rPr lang="es-ES" dirty="0">
                <a:solidFill>
                  <a:schemeClr val="bg1"/>
                </a:solidFill>
              </a:rPr>
              <a:t>: (Gestión productos, pedidos, usuarios)</a:t>
            </a:r>
          </a:p>
          <a:p>
            <a:pPr marL="531813"/>
            <a:r>
              <a:rPr lang="es-ES" dirty="0">
                <a:solidFill>
                  <a:schemeClr val="bg1"/>
                </a:solidFill>
              </a:rPr>
              <a:t>Sistema: Carrito (filtros avanzados, </a:t>
            </a:r>
            <a:r>
              <a:rPr lang="es-ES" dirty="0" err="1">
                <a:solidFill>
                  <a:schemeClr val="bg1"/>
                </a:solidFill>
              </a:rPr>
              <a:t>checkout</a:t>
            </a:r>
            <a:r>
              <a:rPr lang="es-ES" dirty="0">
                <a:solidFill>
                  <a:schemeClr val="bg1"/>
                </a:solidFill>
              </a:rPr>
              <a:t>, sistema de puntos)</a:t>
            </a:r>
          </a:p>
          <a:p>
            <a:r>
              <a:rPr lang="es-ES" b="1" dirty="0" err="1">
                <a:solidFill>
                  <a:schemeClr val="bg1"/>
                </a:solidFill>
              </a:rPr>
              <a:t>Limitacones</a:t>
            </a:r>
            <a:r>
              <a:rPr lang="es-ES" b="1" dirty="0">
                <a:solidFill>
                  <a:schemeClr val="bg1"/>
                </a:solidFill>
              </a:rPr>
              <a:t>:</a:t>
            </a:r>
          </a:p>
          <a:p>
            <a:pPr marL="531813"/>
            <a:r>
              <a:rPr lang="es-ES" dirty="0">
                <a:solidFill>
                  <a:schemeClr val="bg1"/>
                </a:solidFill>
              </a:rPr>
              <a:t>No incluye pasarela de pago real (simulada)</a:t>
            </a:r>
          </a:p>
          <a:p>
            <a:pPr marL="531813"/>
            <a:r>
              <a:rPr lang="es-ES" dirty="0">
                <a:solidFill>
                  <a:schemeClr val="bg1"/>
                </a:solidFill>
              </a:rPr>
              <a:t>Envío de emails simplificado</a:t>
            </a:r>
          </a:p>
          <a:p>
            <a:pPr marL="531813"/>
            <a:r>
              <a:rPr lang="es-ES" dirty="0" err="1">
                <a:solidFill>
                  <a:schemeClr val="bg1"/>
                </a:solidFill>
              </a:rPr>
              <a:t>Deployment</a:t>
            </a:r>
            <a:r>
              <a:rPr lang="es-ES" dirty="0">
                <a:solidFill>
                  <a:schemeClr val="bg1"/>
                </a:solidFill>
              </a:rPr>
              <a:t> e entorno local</a:t>
            </a:r>
          </a:p>
        </p:txBody>
      </p:sp>
    </p:spTree>
    <p:extLst>
      <p:ext uri="{BB962C8B-B14F-4D97-AF65-F5344CB8AC3E}">
        <p14:creationId xmlns:p14="http://schemas.microsoft.com/office/powerpoint/2010/main" val="30042244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6BB137A-BDE4-8908-0E89-FECD51BEEC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Tecnologías usadas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CF9AE00-1059-B3EF-3336-383C34C15C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spcBef>
                <a:spcPts val="600"/>
              </a:spcBef>
              <a:spcAft>
                <a:spcPts val="1200"/>
              </a:spcAft>
            </a:pPr>
            <a:r>
              <a:rPr lang="es-ES" sz="3200" dirty="0" err="1">
                <a:solidFill>
                  <a:schemeClr val="bg1"/>
                </a:solidFill>
              </a:rPr>
              <a:t>Frontend</a:t>
            </a:r>
            <a:r>
              <a:rPr lang="es-ES" sz="3200" dirty="0">
                <a:solidFill>
                  <a:schemeClr val="bg1"/>
                </a:solidFill>
              </a:rPr>
              <a:t>:</a:t>
            </a:r>
          </a:p>
          <a:p>
            <a:pPr lvl="1">
              <a:spcBef>
                <a:spcPts val="600"/>
              </a:spcBef>
              <a:spcAft>
                <a:spcPts val="1200"/>
              </a:spcAft>
            </a:pPr>
            <a:r>
              <a:rPr lang="es-ES" sz="2800" dirty="0">
                <a:solidFill>
                  <a:schemeClr val="bg1"/>
                </a:solidFill>
              </a:rPr>
              <a:t>⚛️ </a:t>
            </a:r>
            <a:r>
              <a:rPr lang="es-ES" sz="2800" dirty="0" err="1">
                <a:solidFill>
                  <a:schemeClr val="bg1"/>
                </a:solidFill>
              </a:rPr>
              <a:t>React</a:t>
            </a:r>
            <a:r>
              <a:rPr lang="es-ES" sz="2800" dirty="0">
                <a:solidFill>
                  <a:schemeClr val="bg1"/>
                </a:solidFill>
              </a:rPr>
              <a:t> Vite </a:t>
            </a:r>
          </a:p>
          <a:p>
            <a:pPr lvl="1">
              <a:spcBef>
                <a:spcPts val="600"/>
              </a:spcBef>
              <a:spcAft>
                <a:spcPts val="1200"/>
              </a:spcAft>
            </a:pPr>
            <a:r>
              <a:rPr lang="es-ES" sz="2800" dirty="0">
                <a:solidFill>
                  <a:schemeClr val="bg1"/>
                </a:solidFill>
              </a:rPr>
              <a:t>🎨</a:t>
            </a:r>
            <a:r>
              <a:rPr lang="es-ES" sz="2800" dirty="0" err="1">
                <a:solidFill>
                  <a:schemeClr val="bg1"/>
                </a:solidFill>
              </a:rPr>
              <a:t>Tailwind</a:t>
            </a:r>
            <a:r>
              <a:rPr lang="es-ES" sz="2800" dirty="0">
                <a:solidFill>
                  <a:schemeClr val="bg1"/>
                </a:solidFill>
              </a:rPr>
              <a:t> CSS</a:t>
            </a:r>
          </a:p>
          <a:p>
            <a:pPr lvl="1">
              <a:spcBef>
                <a:spcPts val="600"/>
              </a:spcBef>
              <a:spcAft>
                <a:spcPts val="1200"/>
              </a:spcAft>
            </a:pPr>
            <a:r>
              <a:rPr lang="es-ES" sz="2800" dirty="0">
                <a:solidFill>
                  <a:schemeClr val="bg1"/>
                </a:solidFill>
              </a:rPr>
              <a:t>🔀 </a:t>
            </a:r>
            <a:r>
              <a:rPr lang="es-ES" sz="2800" dirty="0" err="1">
                <a:solidFill>
                  <a:schemeClr val="bg1"/>
                </a:solidFill>
              </a:rPr>
              <a:t>React</a:t>
            </a:r>
            <a:r>
              <a:rPr lang="es-ES" sz="2800" dirty="0">
                <a:solidFill>
                  <a:schemeClr val="bg1"/>
                </a:solidFill>
              </a:rPr>
              <a:t> </a:t>
            </a:r>
            <a:r>
              <a:rPr lang="es-ES" sz="2800" dirty="0" err="1">
                <a:solidFill>
                  <a:schemeClr val="bg1"/>
                </a:solidFill>
              </a:rPr>
              <a:t>Router</a:t>
            </a:r>
            <a:r>
              <a:rPr lang="es-ES" sz="2800" dirty="0">
                <a:solidFill>
                  <a:schemeClr val="bg1"/>
                </a:solidFill>
              </a:rPr>
              <a:t> </a:t>
            </a:r>
          </a:p>
          <a:p>
            <a:pPr lvl="1">
              <a:spcBef>
                <a:spcPts val="600"/>
              </a:spcBef>
              <a:spcAft>
                <a:spcPts val="1200"/>
              </a:spcAft>
            </a:pPr>
            <a:r>
              <a:rPr lang="es-ES" sz="2800" dirty="0">
                <a:solidFill>
                  <a:schemeClr val="bg1"/>
                </a:solidFill>
              </a:rPr>
              <a:t>🌐 Axios</a:t>
            </a:r>
          </a:p>
          <a:p>
            <a:pPr lvl="1">
              <a:spcBef>
                <a:spcPts val="600"/>
              </a:spcBef>
              <a:spcAft>
                <a:spcPts val="1200"/>
              </a:spcAft>
            </a:pPr>
            <a:r>
              <a:rPr lang="es-ES" sz="2800" dirty="0">
                <a:solidFill>
                  <a:schemeClr val="bg1"/>
                </a:solidFill>
              </a:rPr>
              <a:t>🔄 </a:t>
            </a:r>
            <a:r>
              <a:rPr lang="es-ES" sz="2800" dirty="0" err="1">
                <a:solidFill>
                  <a:schemeClr val="bg1"/>
                </a:solidFill>
              </a:rPr>
              <a:t>React</a:t>
            </a:r>
            <a:r>
              <a:rPr lang="es-ES" sz="2800" dirty="0">
                <a:solidFill>
                  <a:schemeClr val="bg1"/>
                </a:solidFill>
              </a:rPr>
              <a:t> </a:t>
            </a:r>
            <a:r>
              <a:rPr lang="es-ES" sz="2800" dirty="0" err="1">
                <a:solidFill>
                  <a:schemeClr val="bg1"/>
                </a:solidFill>
              </a:rPr>
              <a:t>Context</a:t>
            </a:r>
            <a:r>
              <a:rPr lang="es-ES" sz="2800" dirty="0">
                <a:solidFill>
                  <a:schemeClr val="bg1"/>
                </a:solidFill>
              </a:rPr>
              <a:t> API</a:t>
            </a:r>
          </a:p>
        </p:txBody>
      </p:sp>
    </p:spTree>
    <p:extLst>
      <p:ext uri="{BB962C8B-B14F-4D97-AF65-F5344CB8AC3E}">
        <p14:creationId xmlns:p14="http://schemas.microsoft.com/office/powerpoint/2010/main" val="404829079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B4F352-C7F7-4539-14CF-4DD9C28DB8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E0C8FA3-BEB1-DBB4-E654-37675EB64E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Tecnologías usadas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14ED28C-E6C4-45B5-BC88-741464CA09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spcBef>
                <a:spcPts val="600"/>
              </a:spcBef>
              <a:spcAft>
                <a:spcPts val="1200"/>
              </a:spcAft>
            </a:pPr>
            <a:r>
              <a:rPr lang="es-ES" sz="3200" dirty="0" err="1">
                <a:solidFill>
                  <a:schemeClr val="bg1"/>
                </a:solidFill>
              </a:rPr>
              <a:t>Backend</a:t>
            </a:r>
            <a:r>
              <a:rPr lang="es-ES" sz="3200" dirty="0">
                <a:solidFill>
                  <a:schemeClr val="bg1"/>
                </a:solidFill>
              </a:rPr>
              <a:t>:</a:t>
            </a:r>
          </a:p>
          <a:p>
            <a:pPr lvl="1">
              <a:spcBef>
                <a:spcPts val="600"/>
              </a:spcBef>
              <a:spcAft>
                <a:spcPts val="1200"/>
              </a:spcAft>
            </a:pPr>
            <a:r>
              <a:rPr lang="es-ES" sz="2800" dirty="0">
                <a:solidFill>
                  <a:schemeClr val="bg1"/>
                </a:solidFill>
              </a:rPr>
              <a:t>🐍 Python</a:t>
            </a:r>
          </a:p>
          <a:p>
            <a:pPr lvl="1">
              <a:spcBef>
                <a:spcPts val="600"/>
              </a:spcBef>
              <a:spcAft>
                <a:spcPts val="1200"/>
              </a:spcAft>
            </a:pPr>
            <a:r>
              <a:rPr lang="es-ES" sz="2800" dirty="0">
                <a:solidFill>
                  <a:schemeClr val="bg1"/>
                </a:solidFill>
              </a:rPr>
              <a:t>🎯 Django</a:t>
            </a:r>
          </a:p>
          <a:p>
            <a:pPr lvl="1">
              <a:spcBef>
                <a:spcPts val="600"/>
              </a:spcBef>
              <a:spcAft>
                <a:spcPts val="1200"/>
              </a:spcAft>
            </a:pPr>
            <a:r>
              <a:rPr lang="es-ES" sz="2800" dirty="0">
                <a:solidFill>
                  <a:schemeClr val="bg1"/>
                </a:solidFill>
              </a:rPr>
              <a:t>🔌 Django </a:t>
            </a:r>
            <a:r>
              <a:rPr lang="es-ES" sz="2800" dirty="0" err="1">
                <a:solidFill>
                  <a:schemeClr val="bg1"/>
                </a:solidFill>
              </a:rPr>
              <a:t>Rest</a:t>
            </a:r>
            <a:r>
              <a:rPr lang="es-ES" sz="2800" dirty="0">
                <a:solidFill>
                  <a:schemeClr val="bg1"/>
                </a:solidFill>
              </a:rPr>
              <a:t> Framework</a:t>
            </a:r>
          </a:p>
          <a:p>
            <a:pPr lvl="1">
              <a:spcBef>
                <a:spcPts val="600"/>
              </a:spcBef>
              <a:spcAft>
                <a:spcPts val="1200"/>
              </a:spcAft>
            </a:pPr>
            <a:r>
              <a:rPr lang="es-ES" sz="2800" dirty="0">
                <a:solidFill>
                  <a:schemeClr val="bg1"/>
                </a:solidFill>
              </a:rPr>
              <a:t>🔐 Simple JWT</a:t>
            </a:r>
          </a:p>
        </p:txBody>
      </p:sp>
    </p:spTree>
    <p:extLst>
      <p:ext uri="{BB962C8B-B14F-4D97-AF65-F5344CB8AC3E}">
        <p14:creationId xmlns:p14="http://schemas.microsoft.com/office/powerpoint/2010/main" val="346374418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516325-7F9B-2234-8B18-2BC3BDB433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9F47F88-C65F-F5FD-79CC-9D6575D15B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Tecnologías usadas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43D9634-90A3-DB70-F291-747F3BB8FE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0321" y="2336872"/>
            <a:ext cx="9613861" cy="4082977"/>
          </a:xfrm>
        </p:spPr>
        <p:txBody>
          <a:bodyPr>
            <a:normAutofit fontScale="92500" lnSpcReduction="10000"/>
          </a:bodyPr>
          <a:lstStyle/>
          <a:p>
            <a:pPr>
              <a:spcBef>
                <a:spcPts val="600"/>
              </a:spcBef>
              <a:spcAft>
                <a:spcPts val="1200"/>
              </a:spcAft>
            </a:pPr>
            <a:r>
              <a:rPr lang="es-ES" sz="2800" b="1" dirty="0">
                <a:solidFill>
                  <a:schemeClr val="bg1"/>
                </a:solidFill>
              </a:rPr>
              <a:t>Base de datos:</a:t>
            </a:r>
          </a:p>
          <a:p>
            <a:pPr lvl="1">
              <a:spcBef>
                <a:spcPts val="600"/>
              </a:spcBef>
              <a:spcAft>
                <a:spcPts val="1200"/>
              </a:spcAft>
            </a:pPr>
            <a:r>
              <a:rPr lang="es-ES" sz="2400" dirty="0">
                <a:solidFill>
                  <a:schemeClr val="bg1"/>
                </a:solidFill>
              </a:rPr>
              <a:t>🗄️ SQLite (desarrollo) </a:t>
            </a:r>
          </a:p>
          <a:p>
            <a:pPr lvl="1">
              <a:spcBef>
                <a:spcPts val="600"/>
              </a:spcBef>
              <a:spcAft>
                <a:spcPts val="1200"/>
              </a:spcAft>
            </a:pPr>
            <a:r>
              <a:rPr lang="es-ES" sz="2400" dirty="0">
                <a:solidFill>
                  <a:schemeClr val="bg1"/>
                </a:solidFill>
              </a:rPr>
              <a:t>📊 Modelos relacionales normalizados</a:t>
            </a:r>
          </a:p>
          <a:p>
            <a:pPr marL="266700" lvl="1">
              <a:spcBef>
                <a:spcPts val="600"/>
              </a:spcBef>
              <a:spcAft>
                <a:spcPts val="1200"/>
              </a:spcAft>
            </a:pPr>
            <a:r>
              <a:rPr lang="es-ES" sz="2800" b="1" dirty="0">
                <a:solidFill>
                  <a:schemeClr val="bg1"/>
                </a:solidFill>
              </a:rPr>
              <a:t>Herramientas</a:t>
            </a:r>
          </a:p>
          <a:p>
            <a:pPr lvl="1">
              <a:spcBef>
                <a:spcPts val="600"/>
              </a:spcBef>
              <a:spcAft>
                <a:spcPts val="1200"/>
              </a:spcAft>
            </a:pPr>
            <a:r>
              <a:rPr lang="es-ES" sz="2400" dirty="0">
                <a:solidFill>
                  <a:schemeClr val="bg1"/>
                </a:solidFill>
              </a:rPr>
              <a:t>📋 </a:t>
            </a:r>
            <a:r>
              <a:rPr lang="es-ES" sz="2400" dirty="0" err="1">
                <a:solidFill>
                  <a:schemeClr val="bg1"/>
                </a:solidFill>
              </a:rPr>
              <a:t>Figma</a:t>
            </a:r>
            <a:r>
              <a:rPr lang="es-ES" sz="2400" dirty="0">
                <a:solidFill>
                  <a:schemeClr val="bg1"/>
                </a:solidFill>
              </a:rPr>
              <a:t> (diseño)</a:t>
            </a:r>
          </a:p>
          <a:p>
            <a:pPr lvl="1">
              <a:spcBef>
                <a:spcPts val="600"/>
              </a:spcBef>
              <a:spcAft>
                <a:spcPts val="1200"/>
              </a:spcAft>
            </a:pPr>
            <a:r>
              <a:rPr lang="es-ES" sz="2400" dirty="0">
                <a:solidFill>
                  <a:schemeClr val="bg1"/>
                </a:solidFill>
              </a:rPr>
              <a:t>🎨 Lucide </a:t>
            </a:r>
            <a:r>
              <a:rPr lang="es-ES" sz="2400" dirty="0" err="1">
                <a:solidFill>
                  <a:schemeClr val="bg1"/>
                </a:solidFill>
              </a:rPr>
              <a:t>Icons</a:t>
            </a:r>
            <a:endParaRPr lang="es-ES" sz="2400" dirty="0">
              <a:solidFill>
                <a:schemeClr val="bg1"/>
              </a:solidFill>
            </a:endParaRPr>
          </a:p>
          <a:p>
            <a:pPr lvl="1">
              <a:spcBef>
                <a:spcPts val="600"/>
              </a:spcBef>
              <a:spcAft>
                <a:spcPts val="1200"/>
              </a:spcAft>
            </a:pPr>
            <a:r>
              <a:rPr lang="es-ES" sz="2400" dirty="0">
                <a:solidFill>
                  <a:schemeClr val="bg1"/>
                </a:solidFill>
              </a:rPr>
              <a:t>📤 </a:t>
            </a:r>
            <a:r>
              <a:rPr lang="es-ES" sz="2400" dirty="0" err="1">
                <a:solidFill>
                  <a:schemeClr val="bg1"/>
                </a:solidFill>
              </a:rPr>
              <a:t>Postman</a:t>
            </a:r>
            <a:r>
              <a:rPr lang="es-ES" sz="2400" dirty="0">
                <a:solidFill>
                  <a:schemeClr val="bg1"/>
                </a:solidFill>
              </a:rPr>
              <a:t> (</a:t>
            </a:r>
            <a:r>
              <a:rPr lang="es-ES" sz="2400" dirty="0" err="1">
                <a:solidFill>
                  <a:schemeClr val="bg1"/>
                </a:solidFill>
              </a:rPr>
              <a:t>testing</a:t>
            </a:r>
            <a:r>
              <a:rPr lang="es-ES" sz="2400" dirty="0">
                <a:solidFill>
                  <a:schemeClr val="bg1"/>
                </a:solidFill>
              </a:rPr>
              <a:t> API)</a:t>
            </a:r>
          </a:p>
          <a:p>
            <a:pPr lvl="1">
              <a:spcBef>
                <a:spcPts val="600"/>
              </a:spcBef>
              <a:spcAft>
                <a:spcPts val="1200"/>
              </a:spcAft>
            </a:pPr>
            <a:r>
              <a:rPr lang="es-ES" sz="2400" dirty="0">
                <a:solidFill>
                  <a:schemeClr val="bg1"/>
                </a:solidFill>
              </a:rPr>
              <a:t>🖥️ VS </a:t>
            </a:r>
            <a:r>
              <a:rPr lang="es-ES" sz="2400" dirty="0" err="1">
                <a:solidFill>
                  <a:schemeClr val="bg1"/>
                </a:solidFill>
              </a:rPr>
              <a:t>Code</a:t>
            </a:r>
            <a:endParaRPr lang="es-ES" sz="2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6073745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3325A83-B6EE-485E-86D9-9221AD80D5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Arquitectura del sistema</a:t>
            </a:r>
          </a:p>
        </p:txBody>
      </p:sp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82F91358-B2A2-71C6-EF7E-55908A6EC3E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15856" y="2215873"/>
            <a:ext cx="2935039" cy="4271944"/>
          </a:xfrm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519F42F7-9726-4D25-FEB4-0ECC6629FE2F}"/>
              </a:ext>
            </a:extLst>
          </p:cNvPr>
          <p:cNvSpPr txBox="1"/>
          <p:nvPr/>
        </p:nvSpPr>
        <p:spPr>
          <a:xfrm>
            <a:off x="858907" y="3236541"/>
            <a:ext cx="4532010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2000" b="1" dirty="0">
                <a:solidFill>
                  <a:schemeClr val="bg1"/>
                </a:solidFill>
              </a:rPr>
              <a:t>Patrón: </a:t>
            </a:r>
            <a:r>
              <a:rPr lang="es-ES" sz="2000" dirty="0">
                <a:solidFill>
                  <a:schemeClr val="bg1"/>
                </a:solidFill>
              </a:rPr>
              <a:t>Arquitectura Cliente-Servidor</a:t>
            </a:r>
          </a:p>
          <a:p>
            <a:r>
              <a:rPr lang="es-ES" sz="2000" b="1" dirty="0">
                <a:solidFill>
                  <a:schemeClr val="bg1"/>
                </a:solidFill>
              </a:rPr>
              <a:t>Comunicación: </a:t>
            </a:r>
            <a:r>
              <a:rPr lang="es-ES" sz="2000" dirty="0">
                <a:solidFill>
                  <a:schemeClr val="bg1"/>
                </a:solidFill>
              </a:rPr>
              <a:t>API </a:t>
            </a:r>
            <a:r>
              <a:rPr lang="es-ES" sz="2000" dirty="0" err="1">
                <a:solidFill>
                  <a:schemeClr val="bg1"/>
                </a:solidFill>
              </a:rPr>
              <a:t>Restful</a:t>
            </a:r>
            <a:r>
              <a:rPr lang="es-ES" sz="2000" dirty="0">
                <a:solidFill>
                  <a:schemeClr val="bg1"/>
                </a:solidFill>
              </a:rPr>
              <a:t> JSON</a:t>
            </a:r>
          </a:p>
          <a:p>
            <a:r>
              <a:rPr lang="es-ES" sz="2000" b="1" dirty="0">
                <a:solidFill>
                  <a:schemeClr val="bg1"/>
                </a:solidFill>
              </a:rPr>
              <a:t>Autenticación: </a:t>
            </a:r>
            <a:r>
              <a:rPr lang="es-ES" sz="2000" dirty="0">
                <a:solidFill>
                  <a:schemeClr val="bg1"/>
                </a:solidFill>
              </a:rPr>
              <a:t>Token-</a:t>
            </a:r>
            <a:r>
              <a:rPr lang="es-ES" sz="2000" dirty="0" err="1">
                <a:solidFill>
                  <a:schemeClr val="bg1"/>
                </a:solidFill>
              </a:rPr>
              <a:t>based</a:t>
            </a:r>
            <a:r>
              <a:rPr lang="es-ES" sz="2000" dirty="0">
                <a:solidFill>
                  <a:schemeClr val="bg1"/>
                </a:solidFill>
              </a:rPr>
              <a:t> (JWT)</a:t>
            </a:r>
          </a:p>
        </p:txBody>
      </p:sp>
    </p:spTree>
    <p:extLst>
      <p:ext uri="{BB962C8B-B14F-4D97-AF65-F5344CB8AC3E}">
        <p14:creationId xmlns:p14="http://schemas.microsoft.com/office/powerpoint/2010/main" val="40306229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F74BDE1-A69E-239F-91E3-B14B8ED909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Base de datos normalizada</a:t>
            </a:r>
          </a:p>
        </p:txBody>
      </p:sp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EF424C06-7A36-E74F-8938-F4CA8CF9EC8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09674" y="2147957"/>
            <a:ext cx="8196882" cy="4350070"/>
          </a:xfrm>
        </p:spPr>
      </p:pic>
    </p:spTree>
    <p:extLst>
      <p:ext uri="{BB962C8B-B14F-4D97-AF65-F5344CB8AC3E}">
        <p14:creationId xmlns:p14="http://schemas.microsoft.com/office/powerpoint/2010/main" val="234130571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BD6193D-4BAF-347F-FF0C-51C0610CFE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Proceso de Normalización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2363960-771B-63EA-A98B-28CEF3392F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2148" y="2932044"/>
            <a:ext cx="4140156" cy="2604052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s-ES" sz="1600" b="1" dirty="0">
                <a:solidFill>
                  <a:schemeClr val="bg1"/>
                </a:solidFill>
              </a:rPr>
              <a:t>Sin Normalizar → 1FN → 2FN → 3FN</a:t>
            </a:r>
            <a:endParaRPr lang="es-ES" sz="1600" dirty="0">
              <a:solidFill>
                <a:schemeClr val="bg1"/>
              </a:solidFill>
            </a:endParaRPr>
          </a:p>
          <a:p>
            <a:pPr>
              <a:spcAft>
                <a:spcPts val="600"/>
              </a:spcAft>
            </a:pPr>
            <a:r>
              <a:rPr lang="es-ES" sz="1600" b="1" dirty="0">
                <a:solidFill>
                  <a:schemeClr val="bg1"/>
                </a:solidFill>
              </a:rPr>
              <a:t>Problemas Iniciales:</a:t>
            </a:r>
            <a:r>
              <a:rPr lang="es-ES" sz="1600" dirty="0">
                <a:solidFill>
                  <a:schemeClr val="bg1"/>
                </a:solidFill>
              </a:rPr>
              <a:t> </a:t>
            </a:r>
          </a:p>
          <a:p>
            <a:pPr marL="447675">
              <a:spcAft>
                <a:spcPts val="600"/>
              </a:spcAft>
            </a:pPr>
            <a:r>
              <a:rPr lang="es-ES" sz="1600" dirty="0">
                <a:solidFill>
                  <a:schemeClr val="bg1"/>
                </a:solidFill>
              </a:rPr>
              <a:t>❌ Datos repetidos (redundancia) </a:t>
            </a:r>
          </a:p>
          <a:p>
            <a:pPr marL="447675">
              <a:spcAft>
                <a:spcPts val="600"/>
              </a:spcAft>
            </a:pPr>
            <a:r>
              <a:rPr lang="es-ES" sz="1600" dirty="0">
                <a:solidFill>
                  <a:schemeClr val="bg1"/>
                </a:solidFill>
              </a:rPr>
              <a:t>❌ Campos multivaluados </a:t>
            </a:r>
          </a:p>
          <a:p>
            <a:pPr marL="447675">
              <a:spcAft>
                <a:spcPts val="600"/>
              </a:spcAft>
            </a:pPr>
            <a:r>
              <a:rPr lang="es-ES" sz="1600" dirty="0">
                <a:solidFill>
                  <a:schemeClr val="bg1"/>
                </a:solidFill>
              </a:rPr>
              <a:t>❌ Dependencias transitivas</a:t>
            </a:r>
          </a:p>
          <a:p>
            <a:endParaRPr lang="es-ES" dirty="0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02088F6B-CE84-2476-63A8-93B70D22DCAA}"/>
              </a:ext>
            </a:extLst>
          </p:cNvPr>
          <p:cNvSpPr txBox="1"/>
          <p:nvPr/>
        </p:nvSpPr>
        <p:spPr>
          <a:xfrm>
            <a:off x="8563069" y="2922106"/>
            <a:ext cx="3876261" cy="24468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ES" b="1" dirty="0">
                <a:solidFill>
                  <a:schemeClr val="bg1"/>
                </a:solidFill>
              </a:rPr>
              <a:t>Beneficios:</a:t>
            </a:r>
            <a:endParaRPr lang="es-ES" dirty="0">
              <a:solidFill>
                <a:schemeClr val="bg1"/>
              </a:solidFill>
            </a:endParaRPr>
          </a:p>
          <a:p>
            <a:pPr marL="536575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ES" dirty="0">
                <a:solidFill>
                  <a:schemeClr val="bg1"/>
                </a:solidFill>
              </a:rPr>
              <a:t>Menos redundancia</a:t>
            </a:r>
          </a:p>
          <a:p>
            <a:pPr marL="536575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ES" dirty="0">
                <a:solidFill>
                  <a:schemeClr val="bg1"/>
                </a:solidFill>
              </a:rPr>
              <a:t>Fácil mantenimiento</a:t>
            </a:r>
          </a:p>
          <a:p>
            <a:pPr marL="536575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ES" dirty="0">
                <a:solidFill>
                  <a:schemeClr val="bg1"/>
                </a:solidFill>
              </a:rPr>
              <a:t>Consultas optimizadas</a:t>
            </a:r>
          </a:p>
          <a:p>
            <a:pPr marL="536575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ES" dirty="0">
                <a:solidFill>
                  <a:schemeClr val="bg1"/>
                </a:solidFill>
              </a:rPr>
              <a:t>Escalabilidad</a:t>
            </a:r>
          </a:p>
          <a:p>
            <a:endParaRPr lang="es-ES" dirty="0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CAB0F865-ECA3-B906-E62A-3F1177EC6A92}"/>
              </a:ext>
            </a:extLst>
          </p:cNvPr>
          <p:cNvSpPr txBox="1"/>
          <p:nvPr/>
        </p:nvSpPr>
        <p:spPr>
          <a:xfrm>
            <a:off x="4422913" y="2912166"/>
            <a:ext cx="4363695" cy="201593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ES" sz="1600" b="1" dirty="0">
                <a:solidFill>
                  <a:schemeClr val="bg1"/>
                </a:solidFill>
              </a:rPr>
              <a:t>Solución 3FN:</a:t>
            </a:r>
            <a:r>
              <a:rPr lang="es-ES" sz="1600" dirty="0">
                <a:solidFill>
                  <a:schemeClr val="bg1"/>
                </a:solidFill>
              </a:rPr>
              <a:t> </a:t>
            </a:r>
          </a:p>
          <a:p>
            <a:pPr marL="447675">
              <a:spcAft>
                <a:spcPts val="600"/>
              </a:spcAft>
            </a:pPr>
            <a:r>
              <a:rPr lang="es-ES" sz="1600" dirty="0">
                <a:solidFill>
                  <a:schemeClr val="bg1"/>
                </a:solidFill>
              </a:rPr>
              <a:t>✅ Cada dato en un solo lugar </a:t>
            </a:r>
          </a:p>
          <a:p>
            <a:pPr marL="447675">
              <a:spcAft>
                <a:spcPts val="600"/>
              </a:spcAft>
            </a:pPr>
            <a:r>
              <a:rPr lang="es-ES" sz="1600" dirty="0">
                <a:solidFill>
                  <a:schemeClr val="bg1"/>
                </a:solidFill>
              </a:rPr>
              <a:t>✅ Valores atómicos </a:t>
            </a:r>
          </a:p>
          <a:p>
            <a:pPr marL="447675">
              <a:spcAft>
                <a:spcPts val="600"/>
              </a:spcAft>
            </a:pPr>
            <a:r>
              <a:rPr lang="es-ES" sz="1600" dirty="0">
                <a:solidFill>
                  <a:schemeClr val="bg1"/>
                </a:solidFill>
              </a:rPr>
              <a:t>✅ Eliminadas dependencias transitivas </a:t>
            </a:r>
          </a:p>
          <a:p>
            <a:pPr marL="447675">
              <a:spcAft>
                <a:spcPts val="600"/>
              </a:spcAft>
            </a:pPr>
            <a:r>
              <a:rPr lang="es-ES" sz="1600" dirty="0">
                <a:solidFill>
                  <a:schemeClr val="bg1"/>
                </a:solidFill>
              </a:rPr>
              <a:t>✅ Categorías en tabla separada </a:t>
            </a:r>
          </a:p>
          <a:p>
            <a:pPr marL="447675">
              <a:spcAft>
                <a:spcPts val="600"/>
              </a:spcAft>
            </a:pPr>
            <a:r>
              <a:rPr lang="es-ES" sz="1600" dirty="0">
                <a:solidFill>
                  <a:schemeClr val="bg1"/>
                </a:solidFill>
              </a:rPr>
              <a:t>✅ Integridad referencial con </a:t>
            </a:r>
            <a:r>
              <a:rPr lang="es-ES" sz="1600" dirty="0" err="1">
                <a:solidFill>
                  <a:schemeClr val="bg1"/>
                </a:solidFill>
              </a:rPr>
              <a:t>FKs</a:t>
            </a:r>
            <a:endParaRPr lang="es-ES" sz="16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0413669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E6545B1-051E-AB9B-7F3C-212DE1FC51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API REST – </a:t>
            </a:r>
            <a:r>
              <a:rPr lang="es-ES" dirty="0" err="1"/>
              <a:t>Princpipales</a:t>
            </a:r>
            <a:r>
              <a:rPr lang="es-ES" dirty="0"/>
              <a:t> </a:t>
            </a:r>
            <a:r>
              <a:rPr lang="es-ES" dirty="0" err="1"/>
              <a:t>Endpoints</a:t>
            </a:r>
            <a:endParaRPr lang="es-ES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EEF7F1D-710A-971A-4C96-FBFE7C21AB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0321" y="2336872"/>
            <a:ext cx="9613861" cy="4015801"/>
          </a:xfrm>
        </p:spPr>
        <p:txBody>
          <a:bodyPr>
            <a:normAutofit fontScale="85000" lnSpcReduction="20000"/>
          </a:bodyPr>
          <a:lstStyle/>
          <a:p>
            <a:pPr marL="0" indent="0">
              <a:spcBef>
                <a:spcPts val="1200"/>
              </a:spcBef>
              <a:spcAft>
                <a:spcPts val="600"/>
              </a:spcAft>
              <a:buNone/>
            </a:pPr>
            <a:r>
              <a:rPr lang="es-ES" sz="1800" b="1" dirty="0">
                <a:solidFill>
                  <a:schemeClr val="bg1"/>
                </a:solidFill>
              </a:rPr>
              <a:t>Autenticación: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lang="es-ES" sz="1800" b="1" dirty="0">
                <a:solidFill>
                  <a:schemeClr val="bg1"/>
                </a:solidFill>
              </a:rPr>
              <a:t>POST /api/</a:t>
            </a:r>
            <a:r>
              <a:rPr lang="es-ES" sz="1800" b="1" dirty="0" err="1">
                <a:solidFill>
                  <a:schemeClr val="bg1"/>
                </a:solidFill>
              </a:rPr>
              <a:t>auth</a:t>
            </a:r>
            <a:r>
              <a:rPr lang="es-ES" sz="1800" b="1" dirty="0">
                <a:solidFill>
                  <a:schemeClr val="bg1"/>
                </a:solidFill>
              </a:rPr>
              <a:t>/</a:t>
            </a:r>
            <a:r>
              <a:rPr lang="es-ES" sz="1800" b="1" dirty="0" err="1">
                <a:solidFill>
                  <a:schemeClr val="bg1"/>
                </a:solidFill>
              </a:rPr>
              <a:t>register</a:t>
            </a:r>
            <a:r>
              <a:rPr lang="es-ES" sz="1800" b="1" dirty="0">
                <a:solidFill>
                  <a:schemeClr val="bg1"/>
                </a:solidFill>
              </a:rPr>
              <a:t>/ - Registro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lang="es-ES" sz="1800" b="1" dirty="0">
                <a:solidFill>
                  <a:schemeClr val="bg1"/>
                </a:solidFill>
              </a:rPr>
              <a:t>POST (api/</a:t>
            </a:r>
            <a:r>
              <a:rPr lang="es-ES" sz="1800" b="1" dirty="0" err="1">
                <a:solidFill>
                  <a:schemeClr val="bg1"/>
                </a:solidFill>
              </a:rPr>
              <a:t>auth</a:t>
            </a:r>
            <a:r>
              <a:rPr lang="es-ES" sz="1800" b="1" dirty="0">
                <a:solidFill>
                  <a:schemeClr val="bg1"/>
                </a:solidFill>
              </a:rPr>
              <a:t>/</a:t>
            </a:r>
            <a:r>
              <a:rPr lang="es-ES" sz="1800" b="1" dirty="0" err="1">
                <a:solidFill>
                  <a:schemeClr val="bg1"/>
                </a:solidFill>
              </a:rPr>
              <a:t>login</a:t>
            </a:r>
            <a:r>
              <a:rPr lang="es-ES" sz="1800" b="1" dirty="0">
                <a:solidFill>
                  <a:schemeClr val="bg1"/>
                </a:solidFill>
              </a:rPr>
              <a:t>/ - </a:t>
            </a:r>
            <a:r>
              <a:rPr lang="es-ES" sz="1800" b="1" dirty="0" err="1">
                <a:solidFill>
                  <a:schemeClr val="bg1"/>
                </a:solidFill>
              </a:rPr>
              <a:t>Login</a:t>
            </a:r>
            <a:r>
              <a:rPr lang="es-ES" sz="1800" b="1" dirty="0">
                <a:solidFill>
                  <a:schemeClr val="bg1"/>
                </a:solidFill>
              </a:rPr>
              <a:t> (tokens)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lang="es-ES" sz="1800" b="1" dirty="0">
                <a:solidFill>
                  <a:schemeClr val="bg1"/>
                </a:solidFill>
              </a:rPr>
              <a:t>POST /api/</a:t>
            </a:r>
            <a:r>
              <a:rPr lang="es-ES" sz="1800" b="1" dirty="0" err="1">
                <a:solidFill>
                  <a:schemeClr val="bg1"/>
                </a:solidFill>
              </a:rPr>
              <a:t>auth</a:t>
            </a:r>
            <a:r>
              <a:rPr lang="es-ES" sz="1800" b="1" dirty="0">
                <a:solidFill>
                  <a:schemeClr val="bg1"/>
                </a:solidFill>
              </a:rPr>
              <a:t>/</a:t>
            </a:r>
            <a:r>
              <a:rPr lang="es-ES" sz="1800" b="1" dirty="0" err="1">
                <a:solidFill>
                  <a:schemeClr val="bg1"/>
                </a:solidFill>
              </a:rPr>
              <a:t>refresh</a:t>
            </a:r>
            <a:r>
              <a:rPr lang="es-ES" sz="1800" b="1" dirty="0">
                <a:solidFill>
                  <a:schemeClr val="bg1"/>
                </a:solidFill>
              </a:rPr>
              <a:t>/ – Renovar Token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lang="es-ES" sz="1800" b="1" dirty="0">
                <a:solidFill>
                  <a:schemeClr val="bg1"/>
                </a:solidFill>
              </a:rPr>
              <a:t>POST /api/</a:t>
            </a:r>
            <a:r>
              <a:rPr lang="es-ES" sz="1800" b="1" dirty="0" err="1">
                <a:solidFill>
                  <a:schemeClr val="bg1"/>
                </a:solidFill>
              </a:rPr>
              <a:t>auth</a:t>
            </a:r>
            <a:r>
              <a:rPr lang="es-ES" sz="1800" b="1" dirty="0">
                <a:solidFill>
                  <a:schemeClr val="bg1"/>
                </a:solidFill>
              </a:rPr>
              <a:t>/</a:t>
            </a:r>
            <a:r>
              <a:rPr lang="es-ES" sz="1800" b="1" dirty="0" err="1">
                <a:solidFill>
                  <a:schemeClr val="bg1"/>
                </a:solidFill>
              </a:rPr>
              <a:t>logout</a:t>
            </a:r>
            <a:r>
              <a:rPr lang="es-ES" sz="1800" b="1" dirty="0">
                <a:solidFill>
                  <a:schemeClr val="bg1"/>
                </a:solidFill>
              </a:rPr>
              <a:t>/ - Cerrar sesión</a:t>
            </a:r>
          </a:p>
          <a:p>
            <a:pPr marL="0" indent="0">
              <a:spcBef>
                <a:spcPts val="1200"/>
              </a:spcBef>
              <a:spcAft>
                <a:spcPts val="600"/>
              </a:spcAft>
              <a:buNone/>
            </a:pPr>
            <a:r>
              <a:rPr lang="es-ES" sz="1800" b="1" dirty="0">
                <a:solidFill>
                  <a:schemeClr val="bg1"/>
                </a:solidFill>
              </a:rPr>
              <a:t>Productos: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lang="es-ES" sz="1800" b="1" dirty="0">
                <a:solidFill>
                  <a:schemeClr val="bg1"/>
                </a:solidFill>
              </a:rPr>
              <a:t>GET /api/</a:t>
            </a:r>
            <a:r>
              <a:rPr lang="es-ES" sz="1800" b="1" dirty="0" err="1">
                <a:solidFill>
                  <a:schemeClr val="bg1"/>
                </a:solidFill>
              </a:rPr>
              <a:t>products</a:t>
            </a:r>
            <a:r>
              <a:rPr lang="es-ES" sz="1800" b="1" dirty="0">
                <a:solidFill>
                  <a:schemeClr val="bg1"/>
                </a:solidFill>
              </a:rPr>
              <a:t>/ - Listar productos (con filtros)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lang="es-ES" sz="1800" b="1" dirty="0">
                <a:solidFill>
                  <a:schemeClr val="bg1"/>
                </a:solidFill>
              </a:rPr>
              <a:t>GET /api/</a:t>
            </a:r>
            <a:r>
              <a:rPr lang="es-ES" sz="1800" b="1" dirty="0" err="1">
                <a:solidFill>
                  <a:schemeClr val="bg1"/>
                </a:solidFill>
              </a:rPr>
              <a:t>products</a:t>
            </a:r>
            <a:r>
              <a:rPr lang="es-ES" sz="1800" b="1" dirty="0">
                <a:solidFill>
                  <a:schemeClr val="bg1"/>
                </a:solidFill>
              </a:rPr>
              <a:t>/:id/ - Detalle producto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lang="es-ES" sz="1800" b="1" dirty="0">
                <a:solidFill>
                  <a:schemeClr val="bg1"/>
                </a:solidFill>
              </a:rPr>
              <a:t>GET /api/</a:t>
            </a:r>
            <a:r>
              <a:rPr lang="es-ES" sz="1800" b="1" dirty="0" err="1">
                <a:solidFill>
                  <a:schemeClr val="bg1"/>
                </a:solidFill>
              </a:rPr>
              <a:t>products</a:t>
            </a:r>
            <a:r>
              <a:rPr lang="es-ES" sz="1800" b="1" dirty="0">
                <a:solidFill>
                  <a:schemeClr val="bg1"/>
                </a:solidFill>
              </a:rPr>
              <a:t>/</a:t>
            </a:r>
            <a:r>
              <a:rPr lang="es-ES" sz="1800" b="1" dirty="0" err="1">
                <a:solidFill>
                  <a:schemeClr val="bg1"/>
                </a:solidFill>
              </a:rPr>
              <a:t>featured</a:t>
            </a:r>
            <a:r>
              <a:rPr lang="es-ES" sz="1800" b="1" dirty="0">
                <a:solidFill>
                  <a:schemeClr val="bg1"/>
                </a:solidFill>
              </a:rPr>
              <a:t>/ - Destacados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lang="es-ES" sz="1800" b="1" dirty="0">
                <a:solidFill>
                  <a:schemeClr val="bg1"/>
                </a:solidFill>
              </a:rPr>
              <a:t>POST/PUT/DELETE /api/</a:t>
            </a:r>
            <a:r>
              <a:rPr lang="es-ES" sz="1800" b="1" dirty="0" err="1">
                <a:solidFill>
                  <a:schemeClr val="bg1"/>
                </a:solidFill>
              </a:rPr>
              <a:t>products</a:t>
            </a:r>
            <a:r>
              <a:rPr lang="es-ES" sz="1800" b="1" dirty="0">
                <a:solidFill>
                  <a:schemeClr val="bg1"/>
                </a:solidFill>
              </a:rPr>
              <a:t>/ - CRUD (</a:t>
            </a:r>
            <a:r>
              <a:rPr lang="es-ES" sz="1800" b="1" dirty="0" err="1">
                <a:solidFill>
                  <a:schemeClr val="bg1"/>
                </a:solidFill>
              </a:rPr>
              <a:t>admin</a:t>
            </a:r>
            <a:r>
              <a:rPr lang="es-ES" sz="1800" b="1" dirty="0">
                <a:solidFill>
                  <a:schemeClr val="bg1"/>
                </a:solidFill>
              </a:rPr>
              <a:t>)</a:t>
            </a:r>
          </a:p>
          <a:p>
            <a:endParaRPr lang="es-ES" sz="2000" b="1" dirty="0"/>
          </a:p>
        </p:txBody>
      </p:sp>
    </p:spTree>
    <p:extLst>
      <p:ext uri="{BB962C8B-B14F-4D97-AF65-F5344CB8AC3E}">
        <p14:creationId xmlns:p14="http://schemas.microsoft.com/office/powerpoint/2010/main" val="273143379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CE78F9-F30E-32E4-DF26-A86772C944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665D2A1-320E-A26F-7E7D-C83FED3D94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API REST – </a:t>
            </a:r>
            <a:r>
              <a:rPr lang="es-ES" dirty="0" err="1"/>
              <a:t>Princpipales</a:t>
            </a:r>
            <a:r>
              <a:rPr lang="es-ES" dirty="0"/>
              <a:t> </a:t>
            </a:r>
            <a:r>
              <a:rPr lang="es-ES" dirty="0" err="1"/>
              <a:t>Endpoints</a:t>
            </a:r>
            <a:endParaRPr lang="es-ES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9BA3302-2369-20CE-ACFE-6E264811CE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0321" y="2336872"/>
            <a:ext cx="9613861" cy="4015801"/>
          </a:xfrm>
        </p:spPr>
        <p:txBody>
          <a:bodyPr>
            <a:normAutofit/>
          </a:bodyPr>
          <a:lstStyle/>
          <a:p>
            <a:pPr marL="0" indent="0">
              <a:spcBef>
                <a:spcPts val="1200"/>
              </a:spcBef>
              <a:spcAft>
                <a:spcPts val="600"/>
              </a:spcAft>
              <a:buNone/>
            </a:pPr>
            <a:r>
              <a:rPr lang="es-ES" sz="1800" b="1" dirty="0">
                <a:solidFill>
                  <a:schemeClr val="bg1"/>
                </a:solidFill>
              </a:rPr>
              <a:t>Pedidos: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lang="es-ES" sz="1800" b="1" dirty="0">
                <a:solidFill>
                  <a:schemeClr val="bg1"/>
                </a:solidFill>
              </a:rPr>
              <a:t>GET /api/</a:t>
            </a:r>
            <a:r>
              <a:rPr lang="es-ES" sz="1800" b="1" dirty="0" err="1">
                <a:solidFill>
                  <a:schemeClr val="bg1"/>
                </a:solidFill>
              </a:rPr>
              <a:t>orders</a:t>
            </a:r>
            <a:r>
              <a:rPr lang="es-ES" sz="1800" b="1" dirty="0">
                <a:solidFill>
                  <a:schemeClr val="bg1"/>
                </a:solidFill>
              </a:rPr>
              <a:t>/ - Mis pedidos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lang="es-ES" sz="1800" b="1" dirty="0">
                <a:solidFill>
                  <a:schemeClr val="bg1"/>
                </a:solidFill>
              </a:rPr>
              <a:t>POST /api/</a:t>
            </a:r>
            <a:r>
              <a:rPr lang="es-ES" sz="1800" b="1" dirty="0" err="1">
                <a:solidFill>
                  <a:schemeClr val="bg1"/>
                </a:solidFill>
              </a:rPr>
              <a:t>orders</a:t>
            </a:r>
            <a:r>
              <a:rPr lang="es-ES" sz="1800" b="1" dirty="0">
                <a:solidFill>
                  <a:schemeClr val="bg1"/>
                </a:solidFill>
              </a:rPr>
              <a:t>/ - Crear pedido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lang="es-ES" sz="1800" b="1" dirty="0">
                <a:solidFill>
                  <a:schemeClr val="bg1"/>
                </a:solidFill>
              </a:rPr>
              <a:t>PATCH /api/</a:t>
            </a:r>
            <a:r>
              <a:rPr lang="es-ES" sz="1800" b="1" dirty="0" err="1">
                <a:solidFill>
                  <a:schemeClr val="bg1"/>
                </a:solidFill>
              </a:rPr>
              <a:t>orders</a:t>
            </a:r>
            <a:r>
              <a:rPr lang="es-ES" sz="1800" b="1" dirty="0">
                <a:solidFill>
                  <a:schemeClr val="bg1"/>
                </a:solidFill>
              </a:rPr>
              <a:t>/:id/cancel/ - Cancelar</a:t>
            </a:r>
          </a:p>
          <a:p>
            <a:pPr marL="0" indent="0">
              <a:spcBef>
                <a:spcPts val="1200"/>
              </a:spcBef>
              <a:spcAft>
                <a:spcPts val="600"/>
              </a:spcAft>
              <a:buNone/>
            </a:pPr>
            <a:r>
              <a:rPr lang="es-ES" sz="1800" b="1" dirty="0">
                <a:solidFill>
                  <a:schemeClr val="bg1"/>
                </a:solidFill>
              </a:rPr>
              <a:t>Reseñas: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lang="es-ES" sz="1800" b="1" dirty="0">
                <a:solidFill>
                  <a:schemeClr val="bg1"/>
                </a:solidFill>
              </a:rPr>
              <a:t>GET /api/</a:t>
            </a:r>
            <a:r>
              <a:rPr lang="es-ES" sz="1800" b="1" dirty="0" err="1">
                <a:solidFill>
                  <a:schemeClr val="bg1"/>
                </a:solidFill>
              </a:rPr>
              <a:t>reviews</a:t>
            </a:r>
            <a:r>
              <a:rPr lang="es-ES" sz="1800" b="1" dirty="0">
                <a:solidFill>
                  <a:schemeClr val="bg1"/>
                </a:solidFill>
              </a:rPr>
              <a:t>/?</a:t>
            </a:r>
            <a:r>
              <a:rPr lang="es-ES" sz="1800" b="1" dirty="0" err="1">
                <a:solidFill>
                  <a:schemeClr val="bg1"/>
                </a:solidFill>
              </a:rPr>
              <a:t>products</a:t>
            </a:r>
            <a:r>
              <a:rPr lang="es-ES" sz="1800" b="1" dirty="0">
                <a:solidFill>
                  <a:schemeClr val="bg1"/>
                </a:solidFill>
              </a:rPr>
              <a:t>=:id – Por producto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lang="es-ES" sz="1800" b="1" dirty="0">
                <a:solidFill>
                  <a:schemeClr val="bg1"/>
                </a:solidFill>
              </a:rPr>
              <a:t>POST /api/</a:t>
            </a:r>
            <a:r>
              <a:rPr lang="es-ES" sz="1800" b="1" dirty="0" err="1">
                <a:solidFill>
                  <a:schemeClr val="bg1"/>
                </a:solidFill>
              </a:rPr>
              <a:t>reviews</a:t>
            </a:r>
            <a:r>
              <a:rPr lang="es-ES" sz="1800" b="1" dirty="0">
                <a:solidFill>
                  <a:schemeClr val="bg1"/>
                </a:solidFill>
              </a:rPr>
              <a:t>/ - Crear reseña</a:t>
            </a:r>
            <a:endParaRPr lang="es-ES" sz="20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7222490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9CADE42-7A37-5EE7-ACF5-D442CE05DE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Sistema de autenticación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A59C585-0CAE-293C-B317-0FED84A7F9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0321" y="2336872"/>
            <a:ext cx="9613861" cy="406392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ES" b="1" dirty="0">
                <a:solidFill>
                  <a:schemeClr val="bg1"/>
                </a:solidFill>
              </a:rPr>
              <a:t>Flujo de Autenticación:</a:t>
            </a:r>
            <a:endParaRPr lang="es-ES" dirty="0">
              <a:solidFill>
                <a:schemeClr val="bg1"/>
              </a:solidFill>
            </a:endParaRPr>
          </a:p>
          <a:p>
            <a:pPr marL="457200" indent="-457200">
              <a:buFont typeface="+mj-lt"/>
              <a:buAutoNum type="arabicPeriod"/>
            </a:pPr>
            <a:r>
              <a:rPr lang="es-ES" b="1" dirty="0">
                <a:solidFill>
                  <a:schemeClr val="bg1"/>
                </a:solidFill>
              </a:rPr>
              <a:t>Registro/</a:t>
            </a:r>
            <a:r>
              <a:rPr lang="es-ES" b="1" dirty="0" err="1">
                <a:solidFill>
                  <a:schemeClr val="bg1"/>
                </a:solidFill>
              </a:rPr>
              <a:t>Login</a:t>
            </a:r>
            <a:r>
              <a:rPr lang="es-ES" dirty="0">
                <a:solidFill>
                  <a:schemeClr val="bg1"/>
                </a:solidFill>
              </a:rPr>
              <a:t> → </a:t>
            </a:r>
            <a:r>
              <a:rPr lang="es-ES" dirty="0" err="1">
                <a:solidFill>
                  <a:schemeClr val="bg1"/>
                </a:solidFill>
              </a:rPr>
              <a:t>Backend</a:t>
            </a:r>
            <a:r>
              <a:rPr lang="es-ES" dirty="0">
                <a:solidFill>
                  <a:schemeClr val="bg1"/>
                </a:solidFill>
              </a:rPr>
              <a:t> genera 2 tokens </a:t>
            </a:r>
          </a:p>
          <a:p>
            <a:pPr lvl="1"/>
            <a:r>
              <a:rPr lang="es-ES" dirty="0">
                <a:solidFill>
                  <a:schemeClr val="bg1"/>
                </a:solidFill>
              </a:rPr>
              <a:t>Access Token (1 día)</a:t>
            </a:r>
          </a:p>
          <a:p>
            <a:pPr lvl="1"/>
            <a:r>
              <a:rPr lang="es-ES" dirty="0" err="1">
                <a:solidFill>
                  <a:schemeClr val="bg1"/>
                </a:solidFill>
              </a:rPr>
              <a:t>Refresh</a:t>
            </a:r>
            <a:r>
              <a:rPr lang="es-ES" dirty="0">
                <a:solidFill>
                  <a:schemeClr val="bg1"/>
                </a:solidFill>
              </a:rPr>
              <a:t> Token (7 días)</a:t>
            </a:r>
          </a:p>
          <a:p>
            <a:pPr marL="457200" indent="-457200">
              <a:buFont typeface="+mj-lt"/>
              <a:buAutoNum type="arabicPeriod"/>
            </a:pPr>
            <a:r>
              <a:rPr lang="es-ES" b="1" dirty="0">
                <a:solidFill>
                  <a:schemeClr val="bg1"/>
                </a:solidFill>
              </a:rPr>
              <a:t>Peticiones</a:t>
            </a:r>
            <a:r>
              <a:rPr lang="es-ES" dirty="0">
                <a:solidFill>
                  <a:schemeClr val="bg1"/>
                </a:solidFill>
              </a:rPr>
              <a:t> → </a:t>
            </a:r>
            <a:r>
              <a:rPr lang="es-ES" dirty="0" err="1">
                <a:solidFill>
                  <a:schemeClr val="bg1"/>
                </a:solidFill>
              </a:rPr>
              <a:t>Frontend</a:t>
            </a:r>
            <a:r>
              <a:rPr lang="es-ES" dirty="0">
                <a:solidFill>
                  <a:schemeClr val="bg1"/>
                </a:solidFill>
              </a:rPr>
              <a:t> envía Access Token </a:t>
            </a:r>
          </a:p>
          <a:p>
            <a:pPr lvl="1"/>
            <a:r>
              <a:rPr lang="es-ES" dirty="0" err="1">
                <a:solidFill>
                  <a:schemeClr val="bg1"/>
                </a:solidFill>
              </a:rPr>
              <a:t>Header</a:t>
            </a:r>
            <a:r>
              <a:rPr lang="es-ES" dirty="0">
                <a:solidFill>
                  <a:schemeClr val="bg1"/>
                </a:solidFill>
              </a:rPr>
              <a:t>: </a:t>
            </a:r>
            <a:r>
              <a:rPr lang="es-ES" dirty="0" err="1">
                <a:solidFill>
                  <a:schemeClr val="bg1"/>
                </a:solidFill>
              </a:rPr>
              <a:t>Authorization</a:t>
            </a:r>
            <a:r>
              <a:rPr lang="es-ES" dirty="0">
                <a:solidFill>
                  <a:schemeClr val="bg1"/>
                </a:solidFill>
              </a:rPr>
              <a:t>: </a:t>
            </a:r>
            <a:r>
              <a:rPr lang="es-ES" dirty="0" err="1">
                <a:solidFill>
                  <a:schemeClr val="bg1"/>
                </a:solidFill>
              </a:rPr>
              <a:t>Bearer</a:t>
            </a:r>
            <a:r>
              <a:rPr lang="es-ES" dirty="0">
                <a:solidFill>
                  <a:schemeClr val="bg1"/>
                </a:solidFill>
              </a:rPr>
              <a:t> {token}</a:t>
            </a:r>
          </a:p>
          <a:p>
            <a:pPr marL="457200" indent="-457200">
              <a:buFont typeface="+mj-lt"/>
              <a:buAutoNum type="arabicPeriod"/>
            </a:pPr>
            <a:r>
              <a:rPr lang="es-ES" b="1" dirty="0">
                <a:solidFill>
                  <a:schemeClr val="bg1"/>
                </a:solidFill>
              </a:rPr>
              <a:t>Token Expira</a:t>
            </a:r>
            <a:r>
              <a:rPr lang="es-ES" dirty="0">
                <a:solidFill>
                  <a:schemeClr val="bg1"/>
                </a:solidFill>
              </a:rPr>
              <a:t> → Axios renueva automáticamente </a:t>
            </a:r>
          </a:p>
          <a:p>
            <a:pPr lvl="1"/>
            <a:r>
              <a:rPr lang="es-ES" dirty="0">
                <a:solidFill>
                  <a:schemeClr val="bg1"/>
                </a:solidFill>
              </a:rPr>
              <a:t>Usa </a:t>
            </a:r>
            <a:r>
              <a:rPr lang="es-ES" dirty="0" err="1">
                <a:solidFill>
                  <a:schemeClr val="bg1"/>
                </a:solidFill>
              </a:rPr>
              <a:t>Refresh</a:t>
            </a:r>
            <a:r>
              <a:rPr lang="es-ES" dirty="0">
                <a:solidFill>
                  <a:schemeClr val="bg1"/>
                </a:solidFill>
              </a:rPr>
              <a:t> Token</a:t>
            </a:r>
          </a:p>
          <a:p>
            <a:pPr lvl="1"/>
            <a:r>
              <a:rPr lang="es-ES" dirty="0">
                <a:solidFill>
                  <a:schemeClr val="bg1"/>
                </a:solidFill>
              </a:rPr>
              <a:t>Obtiene nuevo Access Token</a:t>
            </a:r>
          </a:p>
          <a:p>
            <a:pPr marL="457200" indent="-457200">
              <a:buFont typeface="+mj-lt"/>
              <a:buAutoNum type="arabicPeriod"/>
            </a:pPr>
            <a:r>
              <a:rPr lang="es-ES" b="1" dirty="0" err="1">
                <a:solidFill>
                  <a:schemeClr val="bg1"/>
                </a:solidFill>
              </a:rPr>
              <a:t>Logout</a:t>
            </a:r>
            <a:r>
              <a:rPr lang="es-ES" dirty="0">
                <a:solidFill>
                  <a:schemeClr val="bg1"/>
                </a:solidFill>
              </a:rPr>
              <a:t> → Token va a </a:t>
            </a:r>
            <a:r>
              <a:rPr lang="es-ES" dirty="0" err="1">
                <a:solidFill>
                  <a:schemeClr val="bg1"/>
                </a:solidFill>
              </a:rPr>
              <a:t>blacklist</a:t>
            </a:r>
            <a:endParaRPr lang="es-ES" dirty="0">
              <a:solidFill>
                <a:schemeClr val="bg1"/>
              </a:solidFill>
            </a:endParaRPr>
          </a:p>
          <a:p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3357565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56D7233-053C-8D5F-9394-EF6775E491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Sistema de autenticación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694D061-A63E-DC5B-890B-4168E3E607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0321" y="2336873"/>
            <a:ext cx="9613861" cy="4093744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s-ES" b="1" dirty="0">
                <a:solidFill>
                  <a:schemeClr val="bg1"/>
                </a:solidFill>
              </a:rPr>
              <a:t>Seguridad:</a:t>
            </a:r>
            <a:endParaRPr lang="es-ES" dirty="0">
              <a:solidFill>
                <a:schemeClr val="bg1"/>
              </a:solidFill>
            </a:endParaRPr>
          </a:p>
          <a:p>
            <a:r>
              <a:rPr lang="es-ES" dirty="0" err="1">
                <a:solidFill>
                  <a:schemeClr val="bg1"/>
                </a:solidFill>
              </a:rPr>
              <a:t>Passwords</a:t>
            </a:r>
            <a:r>
              <a:rPr lang="es-ES" dirty="0">
                <a:solidFill>
                  <a:schemeClr val="bg1"/>
                </a:solidFill>
              </a:rPr>
              <a:t> </a:t>
            </a:r>
            <a:r>
              <a:rPr lang="es-ES" dirty="0" err="1">
                <a:solidFill>
                  <a:schemeClr val="bg1"/>
                </a:solidFill>
              </a:rPr>
              <a:t>hasheados</a:t>
            </a:r>
            <a:r>
              <a:rPr lang="es-ES" dirty="0">
                <a:solidFill>
                  <a:schemeClr val="bg1"/>
                </a:solidFill>
              </a:rPr>
              <a:t> (</a:t>
            </a:r>
            <a:r>
              <a:rPr lang="es-ES" dirty="0" err="1">
                <a:solidFill>
                  <a:schemeClr val="bg1"/>
                </a:solidFill>
              </a:rPr>
              <a:t>bcrypt</a:t>
            </a:r>
            <a:r>
              <a:rPr lang="es-ES" dirty="0">
                <a:solidFill>
                  <a:schemeClr val="bg1"/>
                </a:solidFill>
              </a:rPr>
              <a:t>)</a:t>
            </a:r>
          </a:p>
          <a:p>
            <a:r>
              <a:rPr lang="es-ES" dirty="0">
                <a:solidFill>
                  <a:schemeClr val="bg1"/>
                </a:solidFill>
              </a:rPr>
              <a:t>Tokens firmados (HMAC)</a:t>
            </a:r>
          </a:p>
          <a:p>
            <a:r>
              <a:rPr lang="es-ES" dirty="0">
                <a:solidFill>
                  <a:schemeClr val="bg1"/>
                </a:solidFill>
              </a:rPr>
              <a:t>CORS configurado</a:t>
            </a:r>
          </a:p>
          <a:p>
            <a:r>
              <a:rPr lang="es-ES" dirty="0" err="1">
                <a:solidFill>
                  <a:schemeClr val="bg1"/>
                </a:solidFill>
              </a:rPr>
              <a:t>Rate</a:t>
            </a:r>
            <a:r>
              <a:rPr lang="es-ES" dirty="0">
                <a:solidFill>
                  <a:schemeClr val="bg1"/>
                </a:solidFill>
              </a:rPr>
              <a:t> </a:t>
            </a:r>
            <a:r>
              <a:rPr lang="es-ES" dirty="0" err="1">
                <a:solidFill>
                  <a:schemeClr val="bg1"/>
                </a:solidFill>
              </a:rPr>
              <a:t>limiting</a:t>
            </a:r>
            <a:endParaRPr lang="es-ES" dirty="0">
              <a:solidFill>
                <a:schemeClr val="bg1"/>
              </a:solidFill>
            </a:endParaRPr>
          </a:p>
          <a:p>
            <a:pPr>
              <a:spcAft>
                <a:spcPts val="1200"/>
              </a:spcAft>
            </a:pPr>
            <a:r>
              <a:rPr lang="es-ES" dirty="0" err="1">
                <a:solidFill>
                  <a:schemeClr val="bg1"/>
                </a:solidFill>
              </a:rPr>
              <a:t>Blacklist</a:t>
            </a:r>
            <a:r>
              <a:rPr lang="es-ES" dirty="0">
                <a:solidFill>
                  <a:schemeClr val="bg1"/>
                </a:solidFill>
              </a:rPr>
              <a:t> de tokens</a:t>
            </a:r>
          </a:p>
          <a:p>
            <a:pPr marL="0" indent="0">
              <a:buNone/>
            </a:pPr>
            <a:r>
              <a:rPr lang="es-ES" b="1" dirty="0">
                <a:solidFill>
                  <a:schemeClr val="bg1"/>
                </a:solidFill>
              </a:rPr>
              <a:t>Ventajas:</a:t>
            </a:r>
            <a:endParaRPr lang="es-ES" dirty="0">
              <a:solidFill>
                <a:schemeClr val="bg1"/>
              </a:solidFill>
            </a:endParaRPr>
          </a:p>
          <a:p>
            <a:r>
              <a:rPr lang="es-ES" dirty="0">
                <a:solidFill>
                  <a:schemeClr val="bg1"/>
                </a:solidFill>
              </a:rPr>
              <a:t>Escalable</a:t>
            </a:r>
          </a:p>
          <a:p>
            <a:r>
              <a:rPr lang="es-ES" dirty="0">
                <a:solidFill>
                  <a:schemeClr val="bg1"/>
                </a:solidFill>
              </a:rPr>
              <a:t>Seguro</a:t>
            </a:r>
          </a:p>
          <a:p>
            <a:r>
              <a:rPr lang="es-ES" dirty="0">
                <a:solidFill>
                  <a:schemeClr val="bg1"/>
                </a:solidFill>
              </a:rPr>
              <a:t>Mobile-</a:t>
            </a:r>
            <a:r>
              <a:rPr lang="es-ES" dirty="0" err="1">
                <a:solidFill>
                  <a:schemeClr val="bg1"/>
                </a:solidFill>
              </a:rPr>
              <a:t>friendly</a:t>
            </a:r>
            <a:endParaRPr lang="es-ES" dirty="0">
              <a:solidFill>
                <a:schemeClr val="bg1"/>
              </a:solidFill>
            </a:endParaRPr>
          </a:p>
          <a:p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90290751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AE2379E-D76D-5D84-D25C-9D67B6AF5E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Funcionalidades clave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FE6466D-EA49-62BD-59C0-C123E57E29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0321" y="2336873"/>
            <a:ext cx="9613861" cy="4073866"/>
          </a:xfrm>
        </p:spPr>
        <p:txBody>
          <a:bodyPr>
            <a:normAutofit/>
          </a:bodyPr>
          <a:lstStyle/>
          <a:p>
            <a:r>
              <a:rPr lang="es-ES" b="1" dirty="0">
                <a:solidFill>
                  <a:schemeClr val="bg1"/>
                </a:solidFill>
              </a:rPr>
              <a:t>Para Usuarios:</a:t>
            </a:r>
            <a:r>
              <a:rPr lang="es-ES" dirty="0">
                <a:solidFill>
                  <a:schemeClr val="bg1"/>
                </a:solidFill>
              </a:rPr>
              <a:t> </a:t>
            </a:r>
          </a:p>
          <a:p>
            <a:pPr marL="0" indent="0">
              <a:buNone/>
            </a:pPr>
            <a:r>
              <a:rPr lang="es-ES" dirty="0">
                <a:solidFill>
                  <a:schemeClr val="bg1"/>
                </a:solidFill>
              </a:rPr>
              <a:t>🛒 Catálogo con filtros avanzados </a:t>
            </a:r>
          </a:p>
          <a:p>
            <a:pPr marL="0" indent="0">
              <a:buNone/>
            </a:pPr>
            <a:r>
              <a:rPr lang="es-ES" dirty="0">
                <a:solidFill>
                  <a:schemeClr val="bg1"/>
                </a:solidFill>
              </a:rPr>
              <a:t>🔍 Búsqueda en tiempo real </a:t>
            </a:r>
          </a:p>
          <a:p>
            <a:pPr marL="0" indent="0">
              <a:buNone/>
            </a:pPr>
            <a:r>
              <a:rPr lang="es-ES" dirty="0">
                <a:solidFill>
                  <a:schemeClr val="bg1"/>
                </a:solidFill>
              </a:rPr>
              <a:t>🛍️ Carrito de compras persistente </a:t>
            </a:r>
          </a:p>
          <a:p>
            <a:pPr marL="0" indent="0">
              <a:buNone/>
            </a:pPr>
            <a:r>
              <a:rPr lang="es-ES" dirty="0">
                <a:solidFill>
                  <a:schemeClr val="bg1"/>
                </a:solidFill>
              </a:rPr>
              <a:t>❤️ </a:t>
            </a:r>
            <a:r>
              <a:rPr lang="es-ES" dirty="0" err="1">
                <a:solidFill>
                  <a:schemeClr val="bg1"/>
                </a:solidFill>
              </a:rPr>
              <a:t>Wishlist</a:t>
            </a:r>
            <a:r>
              <a:rPr lang="es-ES" dirty="0">
                <a:solidFill>
                  <a:schemeClr val="bg1"/>
                </a:solidFill>
              </a:rPr>
              <a:t> (favoritos) </a:t>
            </a:r>
          </a:p>
          <a:p>
            <a:pPr marL="0" indent="0">
              <a:buNone/>
            </a:pPr>
            <a:r>
              <a:rPr lang="es-ES" dirty="0">
                <a:solidFill>
                  <a:schemeClr val="bg1"/>
                </a:solidFill>
              </a:rPr>
              <a:t>⭐ Sistema de reseñas </a:t>
            </a:r>
          </a:p>
          <a:p>
            <a:pPr marL="0" indent="0">
              <a:buNone/>
            </a:pPr>
            <a:r>
              <a:rPr lang="es-ES" dirty="0">
                <a:solidFill>
                  <a:schemeClr val="bg1"/>
                </a:solidFill>
              </a:rPr>
              <a:t>📦 Historial de pedidos </a:t>
            </a:r>
          </a:p>
          <a:p>
            <a:pPr marL="0" indent="0">
              <a:buNone/>
            </a:pPr>
            <a:r>
              <a:rPr lang="es-ES" dirty="0">
                <a:solidFill>
                  <a:schemeClr val="bg1"/>
                </a:solidFill>
              </a:rPr>
              <a:t>🎁 Sistema de puntos </a:t>
            </a:r>
          </a:p>
          <a:p>
            <a:pPr marL="0" indent="0">
              <a:buNone/>
            </a:pPr>
            <a:r>
              <a:rPr lang="es-ES" dirty="0">
                <a:solidFill>
                  <a:schemeClr val="bg1"/>
                </a:solidFill>
              </a:rPr>
              <a:t>👤 Perfil personalizable</a:t>
            </a:r>
          </a:p>
          <a:p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5500193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8801DB8-026B-30E7-7367-0AAE25CA7F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Funcionalidades clave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67A99C2-BA3D-8852-1514-60E6EB42E0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b="1" dirty="0">
                <a:solidFill>
                  <a:schemeClr val="bg1"/>
                </a:solidFill>
              </a:rPr>
              <a:t>Para Administradores:</a:t>
            </a:r>
            <a:r>
              <a:rPr lang="es-ES" dirty="0">
                <a:solidFill>
                  <a:schemeClr val="bg1"/>
                </a:solidFill>
              </a:rPr>
              <a:t> </a:t>
            </a:r>
          </a:p>
          <a:p>
            <a:pPr marL="0" indent="0">
              <a:buNone/>
            </a:pPr>
            <a:r>
              <a:rPr lang="es-ES" dirty="0">
                <a:solidFill>
                  <a:schemeClr val="bg1"/>
                </a:solidFill>
              </a:rPr>
              <a:t>📊 </a:t>
            </a:r>
            <a:r>
              <a:rPr lang="es-ES" dirty="0" err="1">
                <a:solidFill>
                  <a:schemeClr val="bg1"/>
                </a:solidFill>
              </a:rPr>
              <a:t>Dashboard</a:t>
            </a:r>
            <a:r>
              <a:rPr lang="es-ES" dirty="0">
                <a:solidFill>
                  <a:schemeClr val="bg1"/>
                </a:solidFill>
              </a:rPr>
              <a:t> con estadísticas </a:t>
            </a:r>
          </a:p>
          <a:p>
            <a:pPr marL="0" indent="0">
              <a:buNone/>
            </a:pPr>
            <a:r>
              <a:rPr lang="es-ES" dirty="0">
                <a:solidFill>
                  <a:schemeClr val="bg1"/>
                </a:solidFill>
              </a:rPr>
              <a:t>📦 Gestión de productos (CRUD) </a:t>
            </a:r>
          </a:p>
          <a:p>
            <a:pPr marL="0" indent="0">
              <a:buNone/>
            </a:pPr>
            <a:r>
              <a:rPr lang="es-ES" dirty="0">
                <a:solidFill>
                  <a:schemeClr val="bg1"/>
                </a:solidFill>
              </a:rPr>
              <a:t>📋 Gestión de pedidos </a:t>
            </a:r>
          </a:p>
          <a:p>
            <a:pPr marL="0" indent="0">
              <a:buNone/>
            </a:pPr>
            <a:r>
              <a:rPr lang="es-ES" dirty="0">
                <a:solidFill>
                  <a:schemeClr val="bg1"/>
                </a:solidFill>
              </a:rPr>
              <a:t>👥 Gestión de usuarios </a:t>
            </a:r>
          </a:p>
          <a:p>
            <a:pPr marL="0" indent="0">
              <a:buNone/>
            </a:pPr>
            <a:r>
              <a:rPr lang="es-ES" dirty="0">
                <a:solidFill>
                  <a:schemeClr val="bg1"/>
                </a:solidFill>
              </a:rPr>
              <a:t>🏷️ Gestión de categorías </a:t>
            </a:r>
          </a:p>
          <a:p>
            <a:pPr marL="0" indent="0">
              <a:buNone/>
            </a:pPr>
            <a:r>
              <a:rPr lang="es-ES" dirty="0">
                <a:solidFill>
                  <a:schemeClr val="bg1"/>
                </a:solidFill>
              </a:rPr>
              <a:t>🔍 Búsqueda y filtros avanzados</a:t>
            </a:r>
          </a:p>
          <a:p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1477659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7AA7B3E-6C72-5A4B-5EE4-3EA0359885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Funcionalidades clave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6BE8D89-3763-773E-4515-0033902A28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spcAft>
                <a:spcPts val="600"/>
              </a:spcAft>
              <a:buNone/>
            </a:pPr>
            <a:r>
              <a:rPr lang="es-ES" b="1" dirty="0">
                <a:solidFill>
                  <a:schemeClr val="bg1"/>
                </a:solidFill>
              </a:rPr>
              <a:t>Características Técnicas:</a:t>
            </a:r>
            <a:endParaRPr lang="es-ES" dirty="0">
              <a:solidFill>
                <a:schemeClr val="bg1"/>
              </a:solidFill>
            </a:endParaRPr>
          </a:p>
          <a:p>
            <a:pPr>
              <a:spcAft>
                <a:spcPts val="600"/>
              </a:spcAft>
            </a:pPr>
            <a:r>
              <a:rPr lang="es-ES" dirty="0">
                <a:solidFill>
                  <a:schemeClr val="bg1"/>
                </a:solidFill>
              </a:rPr>
              <a:t>Responsive </a:t>
            </a:r>
            <a:r>
              <a:rPr lang="es-ES" dirty="0" err="1">
                <a:solidFill>
                  <a:schemeClr val="bg1"/>
                </a:solidFill>
              </a:rPr>
              <a:t>design</a:t>
            </a:r>
            <a:r>
              <a:rPr lang="es-ES" dirty="0">
                <a:solidFill>
                  <a:schemeClr val="bg1"/>
                </a:solidFill>
              </a:rPr>
              <a:t> (móvil + desktop)</a:t>
            </a:r>
          </a:p>
          <a:p>
            <a:pPr>
              <a:spcAft>
                <a:spcPts val="600"/>
              </a:spcAft>
            </a:pPr>
            <a:r>
              <a:rPr lang="es-ES" dirty="0" err="1">
                <a:solidFill>
                  <a:schemeClr val="bg1"/>
                </a:solidFill>
              </a:rPr>
              <a:t>Optimistic</a:t>
            </a:r>
            <a:r>
              <a:rPr lang="es-ES" dirty="0">
                <a:solidFill>
                  <a:schemeClr val="bg1"/>
                </a:solidFill>
              </a:rPr>
              <a:t> UI </a:t>
            </a:r>
            <a:r>
              <a:rPr lang="es-ES" dirty="0" err="1">
                <a:solidFill>
                  <a:schemeClr val="bg1"/>
                </a:solidFill>
              </a:rPr>
              <a:t>updates</a:t>
            </a:r>
            <a:endParaRPr lang="es-ES" dirty="0">
              <a:solidFill>
                <a:schemeClr val="bg1"/>
              </a:solidFill>
            </a:endParaRPr>
          </a:p>
          <a:p>
            <a:pPr>
              <a:spcAft>
                <a:spcPts val="600"/>
              </a:spcAft>
            </a:pPr>
            <a:r>
              <a:rPr lang="es-ES" dirty="0" err="1">
                <a:solidFill>
                  <a:schemeClr val="bg1"/>
                </a:solidFill>
              </a:rPr>
              <a:t>Loading</a:t>
            </a:r>
            <a:r>
              <a:rPr lang="es-ES" dirty="0">
                <a:solidFill>
                  <a:schemeClr val="bg1"/>
                </a:solidFill>
              </a:rPr>
              <a:t> </a:t>
            </a:r>
            <a:r>
              <a:rPr lang="es-ES" dirty="0" err="1">
                <a:solidFill>
                  <a:schemeClr val="bg1"/>
                </a:solidFill>
              </a:rPr>
              <a:t>states</a:t>
            </a:r>
            <a:endParaRPr lang="es-ES" dirty="0">
              <a:solidFill>
                <a:schemeClr val="bg1"/>
              </a:solidFill>
            </a:endParaRPr>
          </a:p>
          <a:p>
            <a:pPr>
              <a:spcAft>
                <a:spcPts val="600"/>
              </a:spcAft>
            </a:pPr>
            <a:r>
              <a:rPr lang="es-ES" dirty="0">
                <a:solidFill>
                  <a:schemeClr val="bg1"/>
                </a:solidFill>
              </a:rPr>
              <a:t>Error </a:t>
            </a:r>
            <a:r>
              <a:rPr lang="es-ES" dirty="0" err="1">
                <a:solidFill>
                  <a:schemeClr val="bg1"/>
                </a:solidFill>
              </a:rPr>
              <a:t>handling</a:t>
            </a:r>
            <a:endParaRPr lang="es-ES" dirty="0">
              <a:solidFill>
                <a:schemeClr val="bg1"/>
              </a:solidFill>
            </a:endParaRPr>
          </a:p>
          <a:p>
            <a:pPr>
              <a:spcAft>
                <a:spcPts val="600"/>
              </a:spcAft>
            </a:pPr>
            <a:r>
              <a:rPr lang="es-ES" dirty="0">
                <a:solidFill>
                  <a:schemeClr val="bg1"/>
                </a:solidFill>
              </a:rPr>
              <a:t>Validaciones </a:t>
            </a:r>
            <a:r>
              <a:rPr lang="es-ES" dirty="0" err="1">
                <a:solidFill>
                  <a:schemeClr val="bg1"/>
                </a:solidFill>
              </a:rPr>
              <a:t>frontend</a:t>
            </a:r>
            <a:r>
              <a:rPr lang="es-ES" dirty="0">
                <a:solidFill>
                  <a:schemeClr val="bg1"/>
                </a:solidFill>
              </a:rPr>
              <a:t> y </a:t>
            </a:r>
            <a:r>
              <a:rPr lang="es-ES" dirty="0" err="1">
                <a:solidFill>
                  <a:schemeClr val="bg1"/>
                </a:solidFill>
              </a:rPr>
              <a:t>backend</a:t>
            </a:r>
            <a:endParaRPr lang="es-ES" dirty="0">
              <a:solidFill>
                <a:schemeClr val="bg1"/>
              </a:solidFill>
            </a:endParaRPr>
          </a:p>
          <a:p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427237276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05C2E96-FDD9-71C5-81B3-D3FDC4CAF8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Desafíos enfrentados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6B27482-61DB-196D-6D9A-3C14F922AF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0321" y="2126974"/>
            <a:ext cx="9613861" cy="4214191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s-ES" b="1" dirty="0">
                <a:solidFill>
                  <a:schemeClr val="bg1"/>
                </a:solidFill>
              </a:rPr>
              <a:t>1. Normalización de Base de Datos</a:t>
            </a:r>
            <a:endParaRPr lang="es-ES" dirty="0">
              <a:solidFill>
                <a:schemeClr val="bg1"/>
              </a:solidFill>
            </a:endParaRPr>
          </a:p>
          <a:p>
            <a:r>
              <a:rPr lang="es-ES" b="1" dirty="0">
                <a:solidFill>
                  <a:schemeClr val="bg1"/>
                </a:solidFill>
              </a:rPr>
              <a:t>Desafío:</a:t>
            </a:r>
            <a:r>
              <a:rPr lang="es-ES" dirty="0">
                <a:solidFill>
                  <a:schemeClr val="bg1"/>
                </a:solidFill>
              </a:rPr>
              <a:t> Conflictos de migración con </a:t>
            </a:r>
            <a:r>
              <a:rPr lang="es-ES" dirty="0" err="1">
                <a:solidFill>
                  <a:schemeClr val="bg1"/>
                </a:solidFill>
              </a:rPr>
              <a:t>User</a:t>
            </a:r>
            <a:r>
              <a:rPr lang="es-ES" dirty="0">
                <a:solidFill>
                  <a:schemeClr val="bg1"/>
                </a:solidFill>
              </a:rPr>
              <a:t> </a:t>
            </a:r>
            <a:r>
              <a:rPr lang="es-ES" dirty="0" err="1">
                <a:solidFill>
                  <a:schemeClr val="bg1"/>
                </a:solidFill>
              </a:rPr>
              <a:t>model</a:t>
            </a:r>
            <a:r>
              <a:rPr lang="es-ES" dirty="0">
                <a:solidFill>
                  <a:schemeClr val="bg1"/>
                </a:solidFill>
              </a:rPr>
              <a:t> personalizado</a:t>
            </a:r>
          </a:p>
          <a:p>
            <a:pPr>
              <a:spcAft>
                <a:spcPts val="1200"/>
              </a:spcAft>
            </a:pPr>
            <a:r>
              <a:rPr lang="es-ES" b="1" dirty="0">
                <a:solidFill>
                  <a:schemeClr val="bg1"/>
                </a:solidFill>
              </a:rPr>
              <a:t>Solución:</a:t>
            </a:r>
            <a:r>
              <a:rPr lang="es-ES" dirty="0">
                <a:solidFill>
                  <a:schemeClr val="bg1"/>
                </a:solidFill>
              </a:rPr>
              <a:t> </a:t>
            </a:r>
            <a:r>
              <a:rPr lang="es-ES" dirty="0" err="1">
                <a:solidFill>
                  <a:schemeClr val="bg1"/>
                </a:solidFill>
              </a:rPr>
              <a:t>Reset</a:t>
            </a:r>
            <a:r>
              <a:rPr lang="es-ES" dirty="0">
                <a:solidFill>
                  <a:schemeClr val="bg1"/>
                </a:solidFill>
              </a:rPr>
              <a:t> completo de BD, configurar AUTH_USER_MODEL desde inicio</a:t>
            </a:r>
          </a:p>
          <a:p>
            <a:pPr marL="0" indent="0">
              <a:buNone/>
            </a:pPr>
            <a:r>
              <a:rPr lang="es-ES" b="1" dirty="0">
                <a:solidFill>
                  <a:schemeClr val="bg1"/>
                </a:solidFill>
              </a:rPr>
              <a:t>2. Autenticación JWT</a:t>
            </a:r>
            <a:endParaRPr lang="es-ES" dirty="0">
              <a:solidFill>
                <a:schemeClr val="bg1"/>
              </a:solidFill>
            </a:endParaRPr>
          </a:p>
          <a:p>
            <a:r>
              <a:rPr lang="es-ES" b="1" dirty="0">
                <a:solidFill>
                  <a:schemeClr val="bg1"/>
                </a:solidFill>
              </a:rPr>
              <a:t>Desafío:</a:t>
            </a:r>
            <a:r>
              <a:rPr lang="es-ES" dirty="0">
                <a:solidFill>
                  <a:schemeClr val="bg1"/>
                </a:solidFill>
              </a:rPr>
              <a:t> </a:t>
            </a:r>
            <a:r>
              <a:rPr lang="es-ES" dirty="0" err="1">
                <a:solidFill>
                  <a:schemeClr val="bg1"/>
                </a:solidFill>
              </a:rPr>
              <a:t>Refresh</a:t>
            </a:r>
            <a:r>
              <a:rPr lang="es-ES" dirty="0">
                <a:solidFill>
                  <a:schemeClr val="bg1"/>
                </a:solidFill>
              </a:rPr>
              <a:t> automático de tokens expirados</a:t>
            </a:r>
          </a:p>
          <a:p>
            <a:pPr>
              <a:spcAft>
                <a:spcPts val="1200"/>
              </a:spcAft>
            </a:pPr>
            <a:r>
              <a:rPr lang="es-ES" b="1" dirty="0">
                <a:solidFill>
                  <a:schemeClr val="bg1"/>
                </a:solidFill>
              </a:rPr>
              <a:t>Solución:</a:t>
            </a:r>
            <a:r>
              <a:rPr lang="es-ES" dirty="0">
                <a:solidFill>
                  <a:schemeClr val="bg1"/>
                </a:solidFill>
              </a:rPr>
              <a:t> Interceptores de Axios, manejo de errores 401</a:t>
            </a:r>
          </a:p>
          <a:p>
            <a:pPr marL="0" indent="0">
              <a:buNone/>
            </a:pPr>
            <a:r>
              <a:rPr lang="es-ES" b="1" dirty="0">
                <a:solidFill>
                  <a:schemeClr val="bg1"/>
                </a:solidFill>
              </a:rPr>
              <a:t>3. Gestión de Estado</a:t>
            </a:r>
            <a:endParaRPr lang="es-ES" dirty="0">
              <a:solidFill>
                <a:schemeClr val="bg1"/>
              </a:solidFill>
            </a:endParaRPr>
          </a:p>
          <a:p>
            <a:r>
              <a:rPr lang="es-ES" b="1" dirty="0">
                <a:solidFill>
                  <a:schemeClr val="bg1"/>
                </a:solidFill>
              </a:rPr>
              <a:t>Desafío:</a:t>
            </a:r>
            <a:r>
              <a:rPr lang="es-ES" dirty="0">
                <a:solidFill>
                  <a:schemeClr val="bg1"/>
                </a:solidFill>
              </a:rPr>
              <a:t> Sincronizar carrito entre sesiones</a:t>
            </a:r>
          </a:p>
          <a:p>
            <a:r>
              <a:rPr lang="es-ES" b="1" dirty="0">
                <a:solidFill>
                  <a:schemeClr val="bg1"/>
                </a:solidFill>
              </a:rPr>
              <a:t>Solución:</a:t>
            </a:r>
            <a:r>
              <a:rPr lang="es-ES" dirty="0">
                <a:solidFill>
                  <a:schemeClr val="bg1"/>
                </a:solidFill>
              </a:rPr>
              <a:t> </a:t>
            </a:r>
            <a:r>
              <a:rPr lang="es-ES" dirty="0" err="1">
                <a:solidFill>
                  <a:schemeClr val="bg1"/>
                </a:solidFill>
              </a:rPr>
              <a:t>Context</a:t>
            </a:r>
            <a:r>
              <a:rPr lang="es-ES" dirty="0">
                <a:solidFill>
                  <a:schemeClr val="bg1"/>
                </a:solidFill>
              </a:rPr>
              <a:t> API + </a:t>
            </a:r>
            <a:r>
              <a:rPr lang="es-ES" dirty="0" err="1">
                <a:solidFill>
                  <a:schemeClr val="bg1"/>
                </a:solidFill>
              </a:rPr>
              <a:t>localStorage</a:t>
            </a:r>
            <a:r>
              <a:rPr lang="es-ES" dirty="0">
                <a:solidFill>
                  <a:schemeClr val="bg1"/>
                </a:solidFill>
              </a:rPr>
              <a:t>, </a:t>
            </a:r>
            <a:r>
              <a:rPr lang="es-ES" dirty="0" err="1">
                <a:solidFill>
                  <a:schemeClr val="bg1"/>
                </a:solidFill>
              </a:rPr>
              <a:t>merge</a:t>
            </a:r>
            <a:r>
              <a:rPr lang="es-ES" dirty="0">
                <a:solidFill>
                  <a:schemeClr val="bg1"/>
                </a:solidFill>
              </a:rPr>
              <a:t> al </a:t>
            </a:r>
            <a:r>
              <a:rPr lang="es-ES" dirty="0" err="1">
                <a:solidFill>
                  <a:schemeClr val="bg1"/>
                </a:solidFill>
              </a:rPr>
              <a:t>login</a:t>
            </a:r>
            <a:endParaRPr lang="es-ES" dirty="0">
              <a:solidFill>
                <a:schemeClr val="bg1"/>
              </a:solidFill>
            </a:endParaRPr>
          </a:p>
          <a:p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17071360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D608FF8-26AE-F069-C586-283C99C417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Desafíos enfrentados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8AF5ED7-9639-6014-9367-9061C14E7F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0321" y="2176670"/>
            <a:ext cx="9613861" cy="4432851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s-ES" b="1" dirty="0">
                <a:solidFill>
                  <a:schemeClr val="bg1"/>
                </a:solidFill>
              </a:rPr>
              <a:t>4. Filtros Complejos</a:t>
            </a:r>
            <a:endParaRPr lang="es-ES" dirty="0">
              <a:solidFill>
                <a:schemeClr val="bg1"/>
              </a:solidFill>
            </a:endParaRPr>
          </a:p>
          <a:p>
            <a:r>
              <a:rPr lang="es-ES" b="1" dirty="0">
                <a:solidFill>
                  <a:schemeClr val="bg1"/>
                </a:solidFill>
              </a:rPr>
              <a:t>Desafío:</a:t>
            </a:r>
            <a:r>
              <a:rPr lang="es-ES" dirty="0">
                <a:solidFill>
                  <a:schemeClr val="bg1"/>
                </a:solidFill>
              </a:rPr>
              <a:t> Múltiples filtros y búsqueda simultánea</a:t>
            </a:r>
          </a:p>
          <a:p>
            <a:pPr>
              <a:spcAft>
                <a:spcPts val="1200"/>
              </a:spcAft>
            </a:pPr>
            <a:r>
              <a:rPr lang="es-ES" b="1" dirty="0">
                <a:solidFill>
                  <a:schemeClr val="bg1"/>
                </a:solidFill>
              </a:rPr>
              <a:t>Solución:</a:t>
            </a:r>
            <a:r>
              <a:rPr lang="es-ES" dirty="0">
                <a:solidFill>
                  <a:schemeClr val="bg1"/>
                </a:solidFill>
              </a:rPr>
              <a:t> </a:t>
            </a:r>
            <a:r>
              <a:rPr lang="es-ES" dirty="0" err="1">
                <a:solidFill>
                  <a:schemeClr val="bg1"/>
                </a:solidFill>
              </a:rPr>
              <a:t>django-filter</a:t>
            </a:r>
            <a:r>
              <a:rPr lang="es-ES" dirty="0">
                <a:solidFill>
                  <a:schemeClr val="bg1"/>
                </a:solidFill>
              </a:rPr>
              <a:t> + </a:t>
            </a:r>
            <a:r>
              <a:rPr lang="es-ES" dirty="0" err="1">
                <a:solidFill>
                  <a:schemeClr val="bg1"/>
                </a:solidFill>
              </a:rPr>
              <a:t>query</a:t>
            </a:r>
            <a:r>
              <a:rPr lang="es-ES" dirty="0">
                <a:solidFill>
                  <a:schemeClr val="bg1"/>
                </a:solidFill>
              </a:rPr>
              <a:t> </a:t>
            </a:r>
            <a:r>
              <a:rPr lang="es-ES" dirty="0" err="1">
                <a:solidFill>
                  <a:schemeClr val="bg1"/>
                </a:solidFill>
              </a:rPr>
              <a:t>params</a:t>
            </a:r>
            <a:r>
              <a:rPr lang="es-ES" dirty="0">
                <a:solidFill>
                  <a:schemeClr val="bg1"/>
                </a:solidFill>
              </a:rPr>
              <a:t> en URL</a:t>
            </a:r>
          </a:p>
          <a:p>
            <a:pPr marL="0" indent="0">
              <a:buNone/>
            </a:pPr>
            <a:r>
              <a:rPr lang="es-ES" b="1" dirty="0">
                <a:solidFill>
                  <a:schemeClr val="bg1"/>
                </a:solidFill>
              </a:rPr>
              <a:t>5. Responsive </a:t>
            </a:r>
            <a:r>
              <a:rPr lang="es-ES" b="1" dirty="0" err="1">
                <a:solidFill>
                  <a:schemeClr val="bg1"/>
                </a:solidFill>
              </a:rPr>
              <a:t>Design</a:t>
            </a:r>
            <a:endParaRPr lang="es-ES" dirty="0">
              <a:solidFill>
                <a:schemeClr val="bg1"/>
              </a:solidFill>
            </a:endParaRPr>
          </a:p>
          <a:p>
            <a:r>
              <a:rPr lang="es-ES" b="1" dirty="0">
                <a:solidFill>
                  <a:schemeClr val="bg1"/>
                </a:solidFill>
              </a:rPr>
              <a:t>Desafío:</a:t>
            </a:r>
            <a:r>
              <a:rPr lang="es-ES" dirty="0">
                <a:solidFill>
                  <a:schemeClr val="bg1"/>
                </a:solidFill>
              </a:rPr>
              <a:t> UX coherente en todos los dispositivos</a:t>
            </a:r>
          </a:p>
          <a:p>
            <a:pPr>
              <a:spcAft>
                <a:spcPts val="1200"/>
              </a:spcAft>
            </a:pPr>
            <a:r>
              <a:rPr lang="es-ES" b="1" dirty="0">
                <a:solidFill>
                  <a:schemeClr val="bg1"/>
                </a:solidFill>
              </a:rPr>
              <a:t>Solución:</a:t>
            </a:r>
            <a:r>
              <a:rPr lang="es-ES" dirty="0">
                <a:solidFill>
                  <a:schemeClr val="bg1"/>
                </a:solidFill>
              </a:rPr>
              <a:t> Mobile-</a:t>
            </a:r>
            <a:r>
              <a:rPr lang="es-ES" dirty="0" err="1">
                <a:solidFill>
                  <a:schemeClr val="bg1"/>
                </a:solidFill>
              </a:rPr>
              <a:t>first</a:t>
            </a:r>
            <a:r>
              <a:rPr lang="es-ES" dirty="0">
                <a:solidFill>
                  <a:schemeClr val="bg1"/>
                </a:solidFill>
              </a:rPr>
              <a:t> </a:t>
            </a:r>
            <a:r>
              <a:rPr lang="es-ES" dirty="0" err="1">
                <a:solidFill>
                  <a:schemeClr val="bg1"/>
                </a:solidFill>
              </a:rPr>
              <a:t>approach</a:t>
            </a:r>
            <a:r>
              <a:rPr lang="es-ES" dirty="0">
                <a:solidFill>
                  <a:schemeClr val="bg1"/>
                </a:solidFill>
              </a:rPr>
              <a:t> con </a:t>
            </a:r>
            <a:r>
              <a:rPr lang="es-ES" dirty="0" err="1">
                <a:solidFill>
                  <a:schemeClr val="bg1"/>
                </a:solidFill>
              </a:rPr>
              <a:t>Tailwind</a:t>
            </a:r>
            <a:endParaRPr lang="es-ES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s-ES" b="1" dirty="0">
                <a:solidFill>
                  <a:schemeClr val="bg1"/>
                </a:solidFill>
              </a:rPr>
              <a:t>Aprendizajes:</a:t>
            </a:r>
            <a:endParaRPr lang="es-ES" dirty="0">
              <a:solidFill>
                <a:schemeClr val="bg1"/>
              </a:solidFill>
            </a:endParaRPr>
          </a:p>
          <a:p>
            <a:r>
              <a:rPr lang="es-ES" dirty="0">
                <a:solidFill>
                  <a:schemeClr val="bg1"/>
                </a:solidFill>
              </a:rPr>
              <a:t>Importancia de planificación inicial</a:t>
            </a:r>
          </a:p>
          <a:p>
            <a:r>
              <a:rPr lang="es-ES" dirty="0" err="1">
                <a:solidFill>
                  <a:schemeClr val="bg1"/>
                </a:solidFill>
              </a:rPr>
              <a:t>Testing</a:t>
            </a:r>
            <a:r>
              <a:rPr lang="es-ES" dirty="0">
                <a:solidFill>
                  <a:schemeClr val="bg1"/>
                </a:solidFill>
              </a:rPr>
              <a:t> constante de </a:t>
            </a:r>
            <a:r>
              <a:rPr lang="es-ES" dirty="0" err="1">
                <a:solidFill>
                  <a:schemeClr val="bg1"/>
                </a:solidFill>
              </a:rPr>
              <a:t>endpoints</a:t>
            </a:r>
            <a:endParaRPr lang="es-ES" dirty="0">
              <a:solidFill>
                <a:schemeClr val="bg1"/>
              </a:solidFill>
            </a:endParaRPr>
          </a:p>
          <a:p>
            <a:r>
              <a:rPr lang="es-ES" dirty="0">
                <a:solidFill>
                  <a:schemeClr val="bg1"/>
                </a:solidFill>
              </a:rPr>
              <a:t>Documentación clara del código</a:t>
            </a:r>
          </a:p>
          <a:p>
            <a:r>
              <a:rPr lang="es-ES" dirty="0">
                <a:solidFill>
                  <a:schemeClr val="bg1"/>
                </a:solidFill>
              </a:rPr>
              <a:t>Gestión de errores desde el principio</a:t>
            </a:r>
          </a:p>
          <a:p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68316233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CE7635A-91A6-1B5A-38D9-B3E1F52758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Demostración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B075EAB-6CD8-3C4A-894A-2D9FA85E6B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0321" y="3279913"/>
            <a:ext cx="9613861" cy="2656276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s-ES" sz="8800" b="1" dirty="0">
                <a:solidFill>
                  <a:schemeClr val="bg1"/>
                </a:solidFill>
              </a:rPr>
              <a:t>Ir al proyecto </a:t>
            </a:r>
            <a:r>
              <a:rPr lang="es-ES" sz="8800" b="1" dirty="0">
                <a:solidFill>
                  <a:schemeClr val="bg1"/>
                </a:solidFill>
                <a:sym typeface="Wingdings" panose="05000000000000000000" pitchFamily="2" charset="2"/>
              </a:rPr>
              <a:t></a:t>
            </a:r>
            <a:endParaRPr lang="es-ES" sz="88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9089591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D1F38C8-36D2-5A68-8567-B2EA3D36E5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881" y="753228"/>
            <a:ext cx="10111302" cy="1080938"/>
          </a:xfrm>
        </p:spPr>
        <p:txBody>
          <a:bodyPr/>
          <a:lstStyle/>
          <a:p>
            <a:r>
              <a:rPr lang="es-ES" dirty="0"/>
              <a:t>Futuras mejoras: Próximos pasos y Escalabilidad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FD5A7DA-CB07-E505-3ECD-A6B0F64F3A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b="1" dirty="0">
                <a:solidFill>
                  <a:schemeClr val="bg1"/>
                </a:solidFill>
              </a:rPr>
              <a:t>Mejoras Técnicas:</a:t>
            </a:r>
            <a:r>
              <a:rPr lang="es-ES" dirty="0">
                <a:solidFill>
                  <a:schemeClr val="bg1"/>
                </a:solidFill>
              </a:rPr>
              <a:t> </a:t>
            </a:r>
          </a:p>
          <a:p>
            <a:pPr marL="0" indent="0">
              <a:buNone/>
            </a:pPr>
            <a:r>
              <a:rPr lang="es-ES" dirty="0">
                <a:solidFill>
                  <a:schemeClr val="bg1"/>
                </a:solidFill>
              </a:rPr>
              <a:t>🚀 Migrar a PostgreSQL en producción </a:t>
            </a:r>
          </a:p>
          <a:p>
            <a:pPr marL="0" indent="0">
              <a:buNone/>
            </a:pPr>
            <a:r>
              <a:rPr lang="es-ES" dirty="0">
                <a:solidFill>
                  <a:schemeClr val="bg1"/>
                </a:solidFill>
              </a:rPr>
              <a:t>🔄 Implementar Redis para caché </a:t>
            </a:r>
          </a:p>
          <a:p>
            <a:pPr marL="0" indent="0">
              <a:buNone/>
            </a:pPr>
            <a:r>
              <a:rPr lang="es-ES" dirty="0">
                <a:solidFill>
                  <a:schemeClr val="bg1"/>
                </a:solidFill>
              </a:rPr>
              <a:t>📧 Sistema completo de emails (</a:t>
            </a:r>
            <a:r>
              <a:rPr lang="es-ES" dirty="0" err="1">
                <a:solidFill>
                  <a:schemeClr val="bg1"/>
                </a:solidFill>
              </a:rPr>
              <a:t>templates</a:t>
            </a:r>
            <a:r>
              <a:rPr lang="es-ES" dirty="0">
                <a:solidFill>
                  <a:schemeClr val="bg1"/>
                </a:solidFill>
              </a:rPr>
              <a:t>) </a:t>
            </a:r>
          </a:p>
          <a:p>
            <a:pPr marL="0" indent="0">
              <a:buNone/>
            </a:pPr>
            <a:r>
              <a:rPr lang="es-ES" dirty="0">
                <a:solidFill>
                  <a:schemeClr val="bg1"/>
                </a:solidFill>
              </a:rPr>
              <a:t>💳 Integración pasarela de pago real (</a:t>
            </a:r>
            <a:r>
              <a:rPr lang="es-ES" dirty="0" err="1">
                <a:solidFill>
                  <a:schemeClr val="bg1"/>
                </a:solidFill>
              </a:rPr>
              <a:t>Stripe</a:t>
            </a:r>
            <a:r>
              <a:rPr lang="es-ES" dirty="0">
                <a:solidFill>
                  <a:schemeClr val="bg1"/>
                </a:solidFill>
              </a:rPr>
              <a:t>) </a:t>
            </a:r>
          </a:p>
          <a:p>
            <a:pPr marL="0" indent="0">
              <a:buNone/>
            </a:pPr>
            <a:r>
              <a:rPr lang="es-ES" dirty="0">
                <a:solidFill>
                  <a:schemeClr val="bg1"/>
                </a:solidFill>
              </a:rPr>
              <a:t>📱 App móvil </a:t>
            </a:r>
            <a:r>
              <a:rPr lang="es-ES" dirty="0" err="1">
                <a:solidFill>
                  <a:schemeClr val="bg1"/>
                </a:solidFill>
              </a:rPr>
              <a:t>React</a:t>
            </a:r>
            <a:r>
              <a:rPr lang="es-ES" dirty="0">
                <a:solidFill>
                  <a:schemeClr val="bg1"/>
                </a:solidFill>
              </a:rPr>
              <a:t> Native </a:t>
            </a:r>
          </a:p>
          <a:p>
            <a:pPr marL="0" indent="0">
              <a:buNone/>
            </a:pPr>
            <a:r>
              <a:rPr lang="es-ES" dirty="0">
                <a:solidFill>
                  <a:schemeClr val="bg1"/>
                </a:solidFill>
              </a:rPr>
              <a:t>🔍 </a:t>
            </a:r>
            <a:r>
              <a:rPr lang="es-ES" dirty="0" err="1">
                <a:solidFill>
                  <a:schemeClr val="bg1"/>
                </a:solidFill>
              </a:rPr>
              <a:t>Elasticsearch</a:t>
            </a:r>
            <a:r>
              <a:rPr lang="es-ES" dirty="0">
                <a:solidFill>
                  <a:schemeClr val="bg1"/>
                </a:solidFill>
              </a:rPr>
              <a:t> para búsqueda avanzada</a:t>
            </a:r>
          </a:p>
          <a:p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96207398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76BD0B8-AC85-5C29-2B9B-520B5636D4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783" y="753228"/>
            <a:ext cx="10095399" cy="1080938"/>
          </a:xfrm>
        </p:spPr>
        <p:txBody>
          <a:bodyPr/>
          <a:lstStyle/>
          <a:p>
            <a:r>
              <a:rPr lang="es-ES" dirty="0"/>
              <a:t>Futuras mejoras: Próximos pasos y Escalabilidad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D5BD649-BB9F-F8C4-7517-6D77436004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s-ES" b="1" dirty="0">
                <a:solidFill>
                  <a:schemeClr val="bg1"/>
                </a:solidFill>
              </a:rPr>
              <a:t>Nuevas Funcionalidades:</a:t>
            </a:r>
            <a:r>
              <a:rPr lang="es-ES" dirty="0">
                <a:solidFill>
                  <a:schemeClr val="bg1"/>
                </a:solidFill>
              </a:rPr>
              <a:t> </a:t>
            </a:r>
          </a:p>
          <a:p>
            <a:pPr marL="0" indent="0">
              <a:buNone/>
            </a:pPr>
            <a:r>
              <a:rPr lang="es-ES" dirty="0">
                <a:solidFill>
                  <a:schemeClr val="bg1"/>
                </a:solidFill>
              </a:rPr>
              <a:t>✨ Chat en vivo con soporte </a:t>
            </a:r>
          </a:p>
          <a:p>
            <a:pPr marL="0" indent="0">
              <a:buNone/>
            </a:pPr>
            <a:r>
              <a:rPr lang="es-ES" dirty="0">
                <a:solidFill>
                  <a:schemeClr val="bg1"/>
                </a:solidFill>
              </a:rPr>
              <a:t>🎮 Sistema de recomendaciones IA </a:t>
            </a:r>
          </a:p>
          <a:p>
            <a:pPr marL="0" indent="0">
              <a:buNone/>
            </a:pPr>
            <a:r>
              <a:rPr lang="es-ES" dirty="0">
                <a:solidFill>
                  <a:schemeClr val="bg1"/>
                </a:solidFill>
              </a:rPr>
              <a:t>📊 </a:t>
            </a:r>
            <a:r>
              <a:rPr lang="es-ES" dirty="0" err="1">
                <a:solidFill>
                  <a:schemeClr val="bg1"/>
                </a:solidFill>
              </a:rPr>
              <a:t>Analytics</a:t>
            </a:r>
            <a:r>
              <a:rPr lang="es-ES" dirty="0">
                <a:solidFill>
                  <a:schemeClr val="bg1"/>
                </a:solidFill>
              </a:rPr>
              <a:t> y métricas avanzadas </a:t>
            </a:r>
          </a:p>
          <a:p>
            <a:pPr marL="0" indent="0">
              <a:buNone/>
            </a:pPr>
            <a:r>
              <a:rPr lang="es-ES" dirty="0">
                <a:solidFill>
                  <a:schemeClr val="bg1"/>
                </a:solidFill>
              </a:rPr>
              <a:t>🌍 </a:t>
            </a:r>
            <a:r>
              <a:rPr lang="es-ES" dirty="0" err="1">
                <a:solidFill>
                  <a:schemeClr val="bg1"/>
                </a:solidFill>
              </a:rPr>
              <a:t>Multi-idioma</a:t>
            </a:r>
            <a:r>
              <a:rPr lang="es-ES" dirty="0">
                <a:solidFill>
                  <a:schemeClr val="bg1"/>
                </a:solidFill>
              </a:rPr>
              <a:t> y </a:t>
            </a:r>
            <a:r>
              <a:rPr lang="es-ES" dirty="0" err="1">
                <a:solidFill>
                  <a:schemeClr val="bg1"/>
                </a:solidFill>
              </a:rPr>
              <a:t>multi-moneda</a:t>
            </a:r>
            <a:r>
              <a:rPr lang="es-ES" dirty="0">
                <a:solidFill>
                  <a:schemeClr val="bg1"/>
                </a:solidFill>
              </a:rPr>
              <a:t> </a:t>
            </a:r>
          </a:p>
          <a:p>
            <a:pPr marL="0" indent="0">
              <a:buNone/>
            </a:pPr>
            <a:r>
              <a:rPr lang="es-ES" dirty="0">
                <a:solidFill>
                  <a:schemeClr val="bg1"/>
                </a:solidFill>
              </a:rPr>
              <a:t>📦 Tracking en tiempo real de envíos </a:t>
            </a:r>
          </a:p>
          <a:p>
            <a:pPr marL="0" indent="0">
              <a:buNone/>
            </a:pPr>
            <a:r>
              <a:rPr lang="es-ES" dirty="0">
                <a:solidFill>
                  <a:schemeClr val="bg1"/>
                </a:solidFill>
              </a:rPr>
              <a:t>🎁 Programa de afiliados</a:t>
            </a:r>
          </a:p>
          <a:p>
            <a:pPr marL="0" indent="0">
              <a:buNone/>
            </a:pPr>
            <a:r>
              <a:rPr lang="es-ES" dirty="0">
                <a:solidFill>
                  <a:schemeClr val="bg1"/>
                </a:solidFill>
              </a:rPr>
              <a:t>🌓 Modo claro/oscuro</a:t>
            </a:r>
          </a:p>
          <a:p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73227190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61DD2BC-DE2B-702B-9D72-8584EFF917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Futuras mejoras: Optimizaciones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A09EB693-33BB-FC53-7D2A-FE5C68A21121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80321" y="2182153"/>
            <a:ext cx="6505670" cy="39087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altLang="es-E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ClrTx/>
              <a:buSzTx/>
              <a:buFontTx/>
              <a:buChar char="•"/>
              <a:tabLst/>
            </a:pPr>
            <a:r>
              <a:rPr kumimoji="0" lang="es-ES" altLang="es-ES" sz="2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Tests</a:t>
            </a:r>
            <a:r>
              <a:rPr kumimoji="0" lang="es-ES" altLang="es-ES" sz="2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automatizados (</a:t>
            </a:r>
            <a:r>
              <a:rPr kumimoji="0" lang="es-ES" altLang="es-ES" sz="2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Jest</a:t>
            </a:r>
            <a:r>
              <a:rPr kumimoji="0" lang="es-ES" altLang="es-ES" sz="2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es-ES" altLang="es-ES" sz="2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Pytest</a:t>
            </a:r>
            <a:r>
              <a:rPr kumimoji="0" lang="es-ES" altLang="es-ES" sz="2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)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ClrTx/>
              <a:buSzTx/>
              <a:buFontTx/>
              <a:buChar char="•"/>
              <a:tabLst/>
            </a:pPr>
            <a:r>
              <a:rPr kumimoji="0" lang="es-ES" altLang="es-ES" sz="2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CI/CD pipeline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ClrTx/>
              <a:buSzTx/>
              <a:buFontTx/>
              <a:buChar char="•"/>
              <a:tabLst/>
            </a:pPr>
            <a:r>
              <a:rPr kumimoji="0" lang="es-ES" altLang="es-ES" sz="2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Docker </a:t>
            </a:r>
            <a:r>
              <a:rPr kumimoji="0" lang="es-ES" altLang="es-ES" sz="2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containerization</a:t>
            </a:r>
            <a:r>
              <a:rPr kumimoji="0" lang="es-ES" altLang="es-ES" sz="2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ClrTx/>
              <a:buSzTx/>
              <a:buFontTx/>
              <a:buChar char="•"/>
              <a:tabLst/>
            </a:pPr>
            <a:r>
              <a:rPr kumimoji="0" lang="es-ES" altLang="es-ES" sz="2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Load </a:t>
            </a:r>
            <a:r>
              <a:rPr kumimoji="0" lang="es-ES" altLang="es-ES" sz="2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balancing</a:t>
            </a:r>
            <a:r>
              <a:rPr kumimoji="0" lang="es-ES" altLang="es-ES" sz="2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ClrTx/>
              <a:buSzTx/>
              <a:buFontTx/>
              <a:buChar char="•"/>
              <a:tabLst/>
            </a:pPr>
            <a:r>
              <a:rPr kumimoji="0" lang="es-ES" altLang="es-ES" sz="2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CDN para imágenes </a:t>
            </a:r>
          </a:p>
        </p:txBody>
      </p:sp>
    </p:spTree>
    <p:extLst>
      <p:ext uri="{BB962C8B-B14F-4D97-AF65-F5344CB8AC3E}">
        <p14:creationId xmlns:p14="http://schemas.microsoft.com/office/powerpoint/2010/main" val="332091793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34F2DED-9BF2-FCCB-BC59-3360459269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Conclusiones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2AFB04BB-9219-2BC2-9F45-CA44B0B463A9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80321" y="1812820"/>
            <a:ext cx="8516499" cy="46474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altLang="es-E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s-ES" sz="2800" b="1" dirty="0">
                <a:solidFill>
                  <a:schemeClr val="bg1"/>
                </a:solidFill>
              </a:rPr>
              <a:t>Logros Alcanzados:</a:t>
            </a:r>
            <a:r>
              <a:rPr lang="es-ES" sz="2800" dirty="0">
                <a:solidFill>
                  <a:schemeClr val="bg1"/>
                </a:solidFill>
              </a:rPr>
              <a:t> 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FontTx/>
              <a:buChar char="•"/>
            </a:pPr>
            <a:r>
              <a:rPr lang="es-ES" sz="2800" dirty="0">
                <a:solidFill>
                  <a:schemeClr val="bg1"/>
                </a:solidFill>
              </a:rPr>
              <a:t>✅ Aplicación </a:t>
            </a:r>
            <a:r>
              <a:rPr lang="es-ES" sz="2800" dirty="0" err="1">
                <a:solidFill>
                  <a:schemeClr val="bg1"/>
                </a:solidFill>
              </a:rPr>
              <a:t>FullStack</a:t>
            </a:r>
            <a:r>
              <a:rPr lang="es-ES" sz="2800" dirty="0">
                <a:solidFill>
                  <a:schemeClr val="bg1"/>
                </a:solidFill>
              </a:rPr>
              <a:t> completamente funcional 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FontTx/>
              <a:buChar char="•"/>
            </a:pPr>
            <a:r>
              <a:rPr lang="es-ES" sz="2800" dirty="0">
                <a:solidFill>
                  <a:schemeClr val="bg1"/>
                </a:solidFill>
              </a:rPr>
              <a:t>✅ API REST robusta y escalable 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FontTx/>
              <a:buChar char="•"/>
            </a:pPr>
            <a:r>
              <a:rPr lang="es-ES" sz="2800" dirty="0">
                <a:solidFill>
                  <a:schemeClr val="bg1"/>
                </a:solidFill>
              </a:rPr>
              <a:t>✅ Interfaz moderna y responsive 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FontTx/>
              <a:buChar char="•"/>
            </a:pPr>
            <a:r>
              <a:rPr lang="es-ES" sz="2800" dirty="0">
                <a:solidFill>
                  <a:schemeClr val="bg1"/>
                </a:solidFill>
              </a:rPr>
              <a:t>✅ Sistema de autenticación seguro 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FontTx/>
              <a:buChar char="•"/>
            </a:pPr>
            <a:r>
              <a:rPr lang="es-ES" sz="2800" dirty="0">
                <a:solidFill>
                  <a:schemeClr val="bg1"/>
                </a:solidFill>
              </a:rPr>
              <a:t>✅ Base de datos normalizada correctamente</a:t>
            </a:r>
            <a:endParaRPr kumimoji="0" lang="es-ES" altLang="es-ES" sz="28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8737591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ADF869E-0A02-845A-9F15-08E4A62F5C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Conclusiones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1BE3601-934B-74C1-AE96-B6439EFDBC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s-ES" b="1" dirty="0">
                <a:solidFill>
                  <a:schemeClr val="bg1"/>
                </a:solidFill>
              </a:rPr>
              <a:t>Conocimientos Aplicados:</a:t>
            </a:r>
            <a:endParaRPr lang="es-ES" dirty="0">
              <a:solidFill>
                <a:schemeClr val="bg1"/>
              </a:solidFill>
            </a:endParaRPr>
          </a:p>
          <a:p>
            <a:r>
              <a:rPr lang="es-ES" dirty="0" err="1">
                <a:solidFill>
                  <a:schemeClr val="bg1"/>
                </a:solidFill>
              </a:rPr>
              <a:t>Frontend</a:t>
            </a:r>
            <a:r>
              <a:rPr lang="es-ES" dirty="0">
                <a:solidFill>
                  <a:schemeClr val="bg1"/>
                </a:solidFill>
              </a:rPr>
              <a:t>: </a:t>
            </a:r>
            <a:r>
              <a:rPr lang="es-ES" dirty="0" err="1">
                <a:solidFill>
                  <a:schemeClr val="bg1"/>
                </a:solidFill>
              </a:rPr>
              <a:t>React</a:t>
            </a:r>
            <a:r>
              <a:rPr lang="es-ES" dirty="0">
                <a:solidFill>
                  <a:schemeClr val="bg1"/>
                </a:solidFill>
              </a:rPr>
              <a:t>, componentes, </a:t>
            </a:r>
            <a:r>
              <a:rPr lang="es-ES" dirty="0" err="1">
                <a:solidFill>
                  <a:schemeClr val="bg1"/>
                </a:solidFill>
              </a:rPr>
              <a:t>routing</a:t>
            </a:r>
            <a:r>
              <a:rPr lang="es-ES" dirty="0">
                <a:solidFill>
                  <a:schemeClr val="bg1"/>
                </a:solidFill>
              </a:rPr>
              <a:t>, </a:t>
            </a:r>
            <a:r>
              <a:rPr lang="es-ES" dirty="0" err="1">
                <a:solidFill>
                  <a:schemeClr val="bg1"/>
                </a:solidFill>
              </a:rPr>
              <a:t>state</a:t>
            </a:r>
            <a:r>
              <a:rPr lang="es-ES" dirty="0">
                <a:solidFill>
                  <a:schemeClr val="bg1"/>
                </a:solidFill>
              </a:rPr>
              <a:t> </a:t>
            </a:r>
            <a:r>
              <a:rPr lang="es-ES" dirty="0" err="1">
                <a:solidFill>
                  <a:schemeClr val="bg1"/>
                </a:solidFill>
              </a:rPr>
              <a:t>management</a:t>
            </a:r>
            <a:endParaRPr lang="es-ES" dirty="0">
              <a:solidFill>
                <a:schemeClr val="bg1"/>
              </a:solidFill>
            </a:endParaRPr>
          </a:p>
          <a:p>
            <a:r>
              <a:rPr lang="es-ES" dirty="0" err="1">
                <a:solidFill>
                  <a:schemeClr val="bg1"/>
                </a:solidFill>
              </a:rPr>
              <a:t>Backend</a:t>
            </a:r>
            <a:r>
              <a:rPr lang="es-ES" dirty="0">
                <a:solidFill>
                  <a:schemeClr val="bg1"/>
                </a:solidFill>
              </a:rPr>
              <a:t>: Django, DRF, ORM, autenticación</a:t>
            </a:r>
          </a:p>
          <a:p>
            <a:r>
              <a:rPr lang="es-ES" dirty="0">
                <a:solidFill>
                  <a:schemeClr val="bg1"/>
                </a:solidFill>
              </a:rPr>
              <a:t>Base de Datos: Modelado, normalización, SQL</a:t>
            </a:r>
          </a:p>
          <a:p>
            <a:r>
              <a:rPr lang="es-ES" dirty="0">
                <a:solidFill>
                  <a:schemeClr val="bg1"/>
                </a:solidFill>
              </a:rPr>
              <a:t>Arquitectura: Cliente-servidor, REST, JWT</a:t>
            </a:r>
          </a:p>
          <a:p>
            <a:r>
              <a:rPr lang="es-ES" dirty="0">
                <a:solidFill>
                  <a:schemeClr val="bg1"/>
                </a:solidFill>
              </a:rPr>
              <a:t>UX/UI: Diseño responsive, accesibilidad</a:t>
            </a:r>
          </a:p>
          <a:p>
            <a:pPr marL="0" indent="0">
              <a:buNone/>
            </a:pP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37401301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CAF03D3-5A6B-EEE6-2CB5-BF17706BB9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Agradecimientos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843D654-9B6F-9D44-1DCD-6F3AFF5911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s-ES" sz="3600" b="1" dirty="0">
                <a:solidFill>
                  <a:schemeClr val="bg1"/>
                </a:solidFill>
              </a:rPr>
              <a:t>Gracias por su atención</a:t>
            </a:r>
          </a:p>
          <a:p>
            <a:pPr marL="0" indent="0">
              <a:buNone/>
            </a:pPr>
            <a:r>
              <a:rPr lang="es-ES" dirty="0">
                <a:solidFill>
                  <a:schemeClr val="bg1"/>
                </a:solidFill>
              </a:rPr>
              <a:t>Contacto:</a:t>
            </a:r>
          </a:p>
          <a:p>
            <a:r>
              <a:rPr lang="es-ES" dirty="0" err="1">
                <a:solidFill>
                  <a:schemeClr val="bg1"/>
                </a:solidFill>
              </a:rPr>
              <a:t>Linkedin</a:t>
            </a:r>
            <a:r>
              <a:rPr lang="es-ES" dirty="0">
                <a:solidFill>
                  <a:schemeClr val="bg1"/>
                </a:solidFill>
              </a:rPr>
              <a:t> </a:t>
            </a:r>
            <a:r>
              <a:rPr lang="es-ES" dirty="0">
                <a:solidFill>
                  <a:schemeClr val="bg1"/>
                </a:solidFill>
                <a:sym typeface="Wingdings" panose="05000000000000000000" pitchFamily="2" charset="2"/>
              </a:rPr>
              <a:t> </a:t>
            </a:r>
            <a:r>
              <a:rPr lang="es-ES" dirty="0">
                <a:solidFill>
                  <a:schemeClr val="bg1"/>
                </a:solidFill>
                <a:sym typeface="Wingdings" panose="05000000000000000000" pitchFamily="2" charset="2"/>
                <a:hlinkClick r:id="rId2"/>
              </a:rPr>
              <a:t>https://www.linkedin.com/in/david-vaamonde/</a:t>
            </a:r>
            <a:r>
              <a:rPr lang="es-ES" dirty="0">
                <a:solidFill>
                  <a:schemeClr val="bg1"/>
                </a:solidFill>
                <a:sym typeface="Wingdings" panose="05000000000000000000" pitchFamily="2" charset="2"/>
              </a:rPr>
              <a:t> </a:t>
            </a:r>
            <a:endParaRPr lang="es-ES" dirty="0">
              <a:solidFill>
                <a:schemeClr val="bg1"/>
              </a:solidFill>
            </a:endParaRPr>
          </a:p>
          <a:p>
            <a:r>
              <a:rPr lang="es-ES" dirty="0">
                <a:solidFill>
                  <a:schemeClr val="bg1"/>
                </a:solidFill>
              </a:rPr>
              <a:t>Email </a:t>
            </a:r>
            <a:r>
              <a:rPr lang="es-ES" dirty="0">
                <a:solidFill>
                  <a:schemeClr val="bg1"/>
                </a:solidFill>
                <a:sym typeface="Wingdings" panose="05000000000000000000" pitchFamily="2" charset="2"/>
              </a:rPr>
              <a:t> davidvaamonde.bueno@gmail.com</a:t>
            </a:r>
            <a:endParaRPr lang="es-ES" dirty="0">
              <a:solidFill>
                <a:schemeClr val="bg1"/>
              </a:solidFill>
            </a:endParaRPr>
          </a:p>
          <a:p>
            <a:r>
              <a:rPr lang="es-ES" dirty="0" err="1">
                <a:solidFill>
                  <a:schemeClr val="bg1"/>
                </a:solidFill>
              </a:rPr>
              <a:t>Github</a:t>
            </a:r>
            <a:r>
              <a:rPr lang="es-ES" dirty="0">
                <a:solidFill>
                  <a:schemeClr val="bg1"/>
                </a:solidFill>
              </a:rPr>
              <a:t> </a:t>
            </a:r>
            <a:r>
              <a:rPr lang="es-ES" dirty="0">
                <a:solidFill>
                  <a:schemeClr val="bg1"/>
                </a:solidFill>
                <a:sym typeface="Wingdings" panose="05000000000000000000" pitchFamily="2" charset="2"/>
              </a:rPr>
              <a:t> </a:t>
            </a:r>
            <a:r>
              <a:rPr lang="es-ES" dirty="0">
                <a:solidFill>
                  <a:schemeClr val="bg1"/>
                </a:solidFill>
                <a:sym typeface="Wingdings" panose="05000000000000000000" pitchFamily="2" charset="2"/>
                <a:hlinkClick r:id="rId3"/>
              </a:rPr>
              <a:t>https://github.com/DavidLapi</a:t>
            </a:r>
            <a:r>
              <a:rPr lang="es-ES" dirty="0">
                <a:solidFill>
                  <a:schemeClr val="bg1"/>
                </a:solidFill>
                <a:sym typeface="Wingdings" panose="05000000000000000000" pitchFamily="2" charset="2"/>
              </a:rPr>
              <a:t> </a:t>
            </a:r>
          </a:p>
          <a:p>
            <a:pPr marL="0" indent="0">
              <a:buNone/>
            </a:pPr>
            <a:r>
              <a:rPr lang="es-ES" dirty="0">
                <a:solidFill>
                  <a:schemeClr val="bg1"/>
                </a:solidFill>
                <a:sym typeface="Wingdings" panose="05000000000000000000" pitchFamily="2" charset="2"/>
              </a:rPr>
              <a:t>Link del proyecto:</a:t>
            </a:r>
          </a:p>
          <a:p>
            <a:r>
              <a:rPr lang="es-ES" dirty="0">
                <a:solidFill>
                  <a:schemeClr val="bg1"/>
                </a:solidFill>
                <a:sym typeface="Wingdings" panose="05000000000000000000" pitchFamily="2" charset="2"/>
                <a:hlinkClick r:id="rId4"/>
              </a:rPr>
              <a:t>https://github.com/DavidLapi/Chipi-Park.git</a:t>
            </a:r>
            <a:r>
              <a:rPr lang="es-ES" dirty="0">
                <a:solidFill>
                  <a:schemeClr val="bg1"/>
                </a:solidFill>
                <a:sym typeface="Wingdings" panose="05000000000000000000" pitchFamily="2" charset="2"/>
              </a:rPr>
              <a:t> </a:t>
            </a:r>
          </a:p>
          <a:p>
            <a:pPr marL="0" indent="0">
              <a:buNone/>
            </a:pPr>
            <a:endParaRPr lang="es-E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29184185"/>
      </p:ext>
    </p:extLst>
  </p:cSld>
  <p:clrMapOvr>
    <a:masterClrMapping/>
  </p:clrMapOvr>
</p:sld>
</file>

<file path=ppt/theme/theme1.xml><?xml version="1.0" encoding="utf-8"?>
<a:theme xmlns:a="http://schemas.openxmlformats.org/drawingml/2006/main" name="Berlín">
  <a:themeElements>
    <a:clrScheme name="Berlín">
      <a:dk1>
        <a:sysClr val="windowText" lastClr="000000"/>
      </a:dk1>
      <a:lt1>
        <a:sysClr val="window" lastClr="FFFFFF"/>
      </a:lt1>
      <a:dk2>
        <a:srgbClr val="9D360E"/>
      </a:dk2>
      <a:lt2>
        <a:srgbClr val="E7E6E6"/>
      </a:lt2>
      <a:accent1>
        <a:srgbClr val="F09415"/>
      </a:accent1>
      <a:accent2>
        <a:srgbClr val="C1B56B"/>
      </a:accent2>
      <a:accent3>
        <a:srgbClr val="4BAF73"/>
      </a:accent3>
      <a:accent4>
        <a:srgbClr val="5AA6C0"/>
      </a:accent4>
      <a:accent5>
        <a:srgbClr val="D17DF9"/>
      </a:accent5>
      <a:accent6>
        <a:srgbClr val="FA7E5C"/>
      </a:accent6>
      <a:hlink>
        <a:srgbClr val="FFAE3E"/>
      </a:hlink>
      <a:folHlink>
        <a:srgbClr val="FCC77E"/>
      </a:folHlink>
    </a:clrScheme>
    <a:fontScheme name="Berlín">
      <a:majorFont>
        <a:latin typeface="Trebuchet MS" panose="020B0603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Berlín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100000"/>
                <a:lumMod val="110000"/>
              </a:schemeClr>
            </a:gs>
            <a:gs pos="100000">
              <a:schemeClr val="phClr">
                <a:tint val="70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6000"/>
                <a:shade val="100000"/>
                <a:hueMod val="270000"/>
                <a:satMod val="200000"/>
                <a:lumMod val="128000"/>
              </a:schemeClr>
            </a:gs>
            <a:gs pos="50000">
              <a:schemeClr val="phClr">
                <a:shade val="100000"/>
                <a:hueMod val="100000"/>
                <a:satMod val="110000"/>
                <a:lumMod val="130000"/>
              </a:schemeClr>
            </a:gs>
            <a:gs pos="100000">
              <a:schemeClr val="phClr">
                <a:shade val="78000"/>
                <a:hueMod val="44000"/>
                <a:satMod val="200000"/>
                <a:lumMod val="69000"/>
              </a:schemeClr>
            </a:gs>
          </a:gsLst>
          <a:lin ang="252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erlin" id="{7B5DBA9E-B069-418E-9360-A61BDD0615A4}" vid="{C0CBE056-4EF4-4D92-969E-947779DA7AA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TM04033917[[fn=Berlín]]</Template>
  <TotalTime>923</TotalTime>
  <Words>1141</Words>
  <Application>Microsoft Office PowerPoint</Application>
  <PresentationFormat>Panorámica</PresentationFormat>
  <Paragraphs>228</Paragraphs>
  <Slides>28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28</vt:i4>
      </vt:variant>
    </vt:vector>
  </HeadingPairs>
  <TitlesOfParts>
    <vt:vector size="32" baseType="lpstr">
      <vt:lpstr>Arial</vt:lpstr>
      <vt:lpstr>Trebuchet MS</vt:lpstr>
      <vt:lpstr>Wingdings</vt:lpstr>
      <vt:lpstr>Berlín</vt:lpstr>
      <vt:lpstr>Presentación de PowerPoint</vt:lpstr>
      <vt:lpstr>Índice</vt:lpstr>
      <vt:lpstr>Introducción: ¿Qué es Chipi Park?</vt:lpstr>
      <vt:lpstr>Introducción: ¿Qué es Chipi Park?</vt:lpstr>
      <vt:lpstr>Objetivos del proyecto</vt:lpstr>
      <vt:lpstr>Objetivos del proyecto</vt:lpstr>
      <vt:lpstr>Tecnologías usadas</vt:lpstr>
      <vt:lpstr>Tecnologías usadas</vt:lpstr>
      <vt:lpstr>Tecnologías usadas</vt:lpstr>
      <vt:lpstr>Arquitectura del sistema</vt:lpstr>
      <vt:lpstr>Base de datos normalizada</vt:lpstr>
      <vt:lpstr>Proceso de Normalización</vt:lpstr>
      <vt:lpstr>API REST – Princpipales Endpoints</vt:lpstr>
      <vt:lpstr>API REST – Princpipales Endpoints</vt:lpstr>
      <vt:lpstr>Sistema de autenticación</vt:lpstr>
      <vt:lpstr>Sistema de autenticación</vt:lpstr>
      <vt:lpstr>Funcionalidades clave</vt:lpstr>
      <vt:lpstr>Funcionalidades clave</vt:lpstr>
      <vt:lpstr>Funcionalidades clave</vt:lpstr>
      <vt:lpstr>Desafíos enfrentados</vt:lpstr>
      <vt:lpstr>Desafíos enfrentados</vt:lpstr>
      <vt:lpstr>Demostración</vt:lpstr>
      <vt:lpstr>Futuras mejoras: Próximos pasos y Escalabilidad</vt:lpstr>
      <vt:lpstr>Futuras mejoras: Próximos pasos y Escalabilidad</vt:lpstr>
      <vt:lpstr>Futuras mejoras: Optimizaciones</vt:lpstr>
      <vt:lpstr>Conclusiones</vt:lpstr>
      <vt:lpstr>Conclusiones</vt:lpstr>
      <vt:lpstr>Agradecimientos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David Lapi</dc:creator>
  <cp:lastModifiedBy>David Lapi</cp:lastModifiedBy>
  <cp:revision>9</cp:revision>
  <dcterms:created xsi:type="dcterms:W3CDTF">2026-01-19T09:00:09Z</dcterms:created>
  <dcterms:modified xsi:type="dcterms:W3CDTF">2026-01-22T13:36:29Z</dcterms:modified>
</cp:coreProperties>
</file>